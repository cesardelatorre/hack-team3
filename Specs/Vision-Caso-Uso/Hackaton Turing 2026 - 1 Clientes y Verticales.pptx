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684" r:id="rId9"/>
    <p:sldId id="1892" r:id="rId10"/>
    <p:sldId id="2101" r:id="rId11"/>
    <p:sldId id="2311" r:id="rId12"/>
    <p:sldId id="2522" r:id="rId13"/>
    <p:sldId id="2734" r:id="rId14"/>
    <p:sldId id="2947" r:id="rId15"/>
    <p:sldId id="3161" r:id="rId16"/>
    <p:sldId id="33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CC7855-A2CD-44C8-B8B2-BE9C04B42096}" v="5" dt="2026-09-17T13:34:34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6CC7855-A2CD-44C8-B8B2-BE9C04B42096}"/>
    <pc:docChg chg="mod addSld modSld modMainMaster setSldSz">
      <pc:chgData name="" userId="" providerId="" clId="Web-{06CC7855-A2CD-44C8-B8B2-BE9C04B42096}" dt="2026-09-17T13:38:58.920" v="13" actId="34807"/>
      <pc:docMkLst>
        <pc:docMk/>
      </pc:docMkLst>
      <pc:sldChg chg="addSp modSp mod setBg">
        <pc:chgData name="" userId="" providerId="" clId="Web-{06CC7855-A2CD-44C8-B8B2-BE9C04B42096}" dt="2026-09-17T13:34:34.371" v="5" actId="34807"/>
        <pc:sldMkLst>
          <pc:docMk/>
          <pc:sldMk cId="0" sldId="256"/>
        </pc:sldMkLst>
        <pc:spChg chg="add mod">
          <ac:chgData name="" userId="" providerId="" clId="Web-{06CC7855-A2CD-44C8-B8B2-BE9C04B42096}" dt="2026-09-17T13:34:25.808" v="4" actId="34807"/>
          <ac:spMkLst>
            <pc:docMk/>
            <pc:sldMk cId="0" sldId="256"/>
            <ac:spMk id="3" creationId="{CA1BFE5D-1ED9-86CB-27A6-ACFD28C17C02}"/>
          </ac:spMkLst>
        </pc:spChg>
        <pc:spChg chg="add mod">
          <ac:chgData name="" userId="" providerId="" clId="Web-{06CC7855-A2CD-44C8-B8B2-BE9C04B42096}" dt="2026-09-17T13:34:25.808" v="4" actId="34807"/>
          <ac:spMkLst>
            <pc:docMk/>
            <pc:sldMk cId="0" sldId="256"/>
            <ac:spMk id="5" creationId="{0048C200-8C92-490C-A54C-964D4F70C9E1}"/>
          </ac:spMkLst>
        </pc:spChg>
        <pc:spChg chg="add mod">
          <ac:chgData name="" userId="" providerId="" clId="Web-{06CC7855-A2CD-44C8-B8B2-BE9C04B42096}" dt="2026-09-17T13:34:25.808" v="4" actId="34807"/>
          <ac:spMkLst>
            <pc:docMk/>
            <pc:sldMk cId="0" sldId="256"/>
            <ac:spMk id="8" creationId="{C073B369-6E0C-7BA6-6A2A-EB4D6B1EC613}"/>
          </ac:spMkLst>
        </pc:spChg>
        <pc:spChg chg="add mod">
          <ac:chgData name="" userId="" providerId="" clId="Web-{06CC7855-A2CD-44C8-B8B2-BE9C04B42096}" dt="2026-09-17T13:34:25.808" v="4" actId="34807"/>
          <ac:spMkLst>
            <pc:docMk/>
            <pc:sldMk cId="0" sldId="256"/>
            <ac:spMk id="12" creationId="{84CFE70F-B463-85A8-84CF-ADBB013333D5}"/>
          </ac:spMkLst>
        </pc:spChg>
        <pc:spChg chg="add mod">
          <ac:chgData name="" userId="" providerId="" clId="Web-{06CC7855-A2CD-44C8-B8B2-BE9C04B42096}" dt="2026-09-17T13:34:25.808" v="4" actId="34807"/>
          <ac:spMkLst>
            <pc:docMk/>
            <pc:sldMk cId="0" sldId="256"/>
            <ac:spMk id="17" creationId="{8BBCA941-B7FD-7BE5-6635-6F0B405A30BE}"/>
          </ac:spMkLst>
        </pc:spChg>
        <pc:picChg chg="add">
          <ac:chgData name="" userId="" providerId="" clId="Web-{06CC7855-A2CD-44C8-B8B2-BE9C04B42096}" dt="2026-09-17T13:34:11.603" v="1" actId="34807"/>
          <ac:picMkLst>
            <pc:docMk/>
            <pc:sldMk cId="0" sldId="256"/>
            <ac:picMk id="2" creationId="{6C0D780D-676E-408B-F6A8-EC98193E2320}"/>
          </ac:picMkLst>
        </pc:picChg>
      </pc:sldChg>
      <pc:sldChg chg="addSp modSp add mod setBg">
        <pc:chgData name="" userId="" providerId="" clId="Web-{06CC7855-A2CD-44C8-B8B2-BE9C04B42096}" dt="2026-09-17T13:35:12.217" v="6" actId="34807"/>
        <pc:sldMkLst>
          <pc:docMk/>
          <pc:sldMk cId="1862104233" sldId="457"/>
        </pc:sldMkLst>
        <pc:spChg chg="add mod">
          <ac:chgData name="" userId="" providerId="" clId="Web-{06CC7855-A2CD-44C8-B8B2-BE9C04B42096}" dt="2026-09-17T13:35:12.217" v="6" actId="34807"/>
          <ac:spMkLst>
            <pc:docMk/>
            <pc:sldMk cId="1862104233" sldId="457"/>
            <ac:spMk id="20" creationId="{B5BF2D60-29C9-E282-1B05-B35666A58EA2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862104233" sldId="457"/>
            <ac:spMk id="23" creationId="{F402E87C-84A1-024B-46D8-9318F0BF868F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862104233" sldId="457"/>
            <ac:spMk id="32" creationId="{ED0769D3-B5BC-A79F-ACCB-810D9CE896CD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862104233" sldId="457"/>
            <ac:spMk id="38" creationId="{12682BFE-3B3B-111A-07E1-B2879A62E184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862104233" sldId="457"/>
            <ac:spMk id="45" creationId="{2008337D-3E9F-9D05-E15E-13802DB06D13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862104233" sldId="457"/>
            <ac:spMk id="53" creationId="{2FA64EF4-1DE8-5208-03CE-2BA5508D9B75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862104233" sldId="457"/>
            <ac:spMk id="62" creationId="{1C5B1457-A08C-40DC-01DD-3507894090EE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862104233" sldId="457"/>
            <ac:spMk id="72" creationId="{07A88333-381B-1781-1281-57A51F2C46D4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862104233" sldId="457"/>
            <ac:spMk id="83" creationId="{1BD232D0-6312-F283-AFDB-A6BF0DA5064E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862104233" sldId="457"/>
            <ac:spMk id="108" creationId="{34B5A4C5-3D89-2E53-9CF6-4EE387D389DB}"/>
          </ac:spMkLst>
        </pc:spChg>
      </pc:sldChg>
      <pc:sldChg chg="addSp modSp add mod setBg">
        <pc:chgData name="" userId="" providerId="" clId="Web-{06CC7855-A2CD-44C8-B8B2-BE9C04B42096}" dt="2026-09-17T13:35:12.217" v="6" actId="34807"/>
        <pc:sldMkLst>
          <pc:docMk/>
          <pc:sldMk cId="1249676037" sldId="659"/>
        </pc:sldMkLst>
        <pc:spChg chg="add mod">
          <ac:chgData name="" userId="" providerId="" clId="Web-{06CC7855-A2CD-44C8-B8B2-BE9C04B42096}" dt="2026-09-17T13:35:12.217" v="6" actId="34807"/>
          <ac:spMkLst>
            <pc:docMk/>
            <pc:sldMk cId="1249676037" sldId="659"/>
            <ac:spMk id="137" creationId="{A8901C0A-6BDE-72E0-FCCC-F75E7A8570EE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249676037" sldId="659"/>
            <ac:spMk id="170" creationId="{7CD33393-CD15-B3CA-51D8-92CDDE02C284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249676037" sldId="659"/>
            <ac:spMk id="188" creationId="{832C0BD4-C419-3D9C-9DE5-8CEAC9FFFA57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249676037" sldId="659"/>
            <ac:spMk id="317" creationId="{701E21DE-715A-321A-4CEF-15B1CE36F16D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249676037" sldId="659"/>
            <ac:spMk id="342" creationId="{8023AA6C-1468-C17E-BCCF-C07349024327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249676037" sldId="659"/>
            <ac:spMk id="395" creationId="{74598936-481E-7B7C-E9F2-C8D291572F6E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249676037" sldId="659"/>
            <ac:spMk id="513" creationId="{7113EF53-4965-120B-CAD4-1EB6711BE2A9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249676037" sldId="659"/>
            <ac:spMk id="545" creationId="{B85912B2-BBBD-58D1-4D31-AD3A00317227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249676037" sldId="659"/>
            <ac:spMk id="578" creationId="{A17AD051-6071-164D-3021-2400C9455DA0}"/>
          </ac:spMkLst>
        </pc:spChg>
        <pc:spChg chg="add mod">
          <ac:chgData name="" userId="" providerId="" clId="Web-{06CC7855-A2CD-44C8-B8B2-BE9C04B42096}" dt="2026-09-17T13:35:12.217" v="6" actId="34807"/>
          <ac:spMkLst>
            <pc:docMk/>
            <pc:sldMk cId="1249676037" sldId="659"/>
            <ac:spMk id="612" creationId="{5EEDE51A-E32E-DE8C-AD85-3DBF0581E0AA}"/>
          </ac:spMkLst>
        </pc:spChg>
      </pc:sldChg>
      <pc:sldChg chg="addSp modSp add mod setBg">
        <pc:chgData name="" userId="" providerId="" clId="Web-{06CC7855-A2CD-44C8-B8B2-BE9C04B42096}" dt="2026-09-17T13:35:50.923" v="7" actId="34807"/>
        <pc:sldMkLst>
          <pc:docMk/>
          <pc:sldMk cId="84562370" sldId="862"/>
        </pc:sldMkLst>
        <pc:spChg chg="add mod">
          <ac:chgData name="" userId="" providerId="" clId="Web-{06CC7855-A2CD-44C8-B8B2-BE9C04B42096}" dt="2026-09-17T13:35:50.923" v="7" actId="34807"/>
          <ac:spMkLst>
            <pc:docMk/>
            <pc:sldMk cId="84562370" sldId="862"/>
            <ac:spMk id="613" creationId="{4B1795BD-EBED-3180-F54D-40144BF31CB0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84562370" sldId="862"/>
            <ac:spMk id="615" creationId="{541935A3-0E50-6161-7D20-49345D7478CC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84562370" sldId="862"/>
            <ac:spMk id="622" creationId="{F862FF6A-1BDF-B45E-A5FA-AE8054588D46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84562370" sldId="862"/>
            <ac:spMk id="627" creationId="{657C0145-6CDA-962C-09F9-E665C8AF6A35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84562370" sldId="862"/>
            <ac:spMk id="640" creationId="{97C4FFCD-4446-9678-46D8-CDAD622F1479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84562370" sldId="862"/>
            <ac:spMk id="657" creationId="{83D60201-A10F-8F01-D045-6F2072C49EFC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84562370" sldId="862"/>
            <ac:spMk id="667" creationId="{3548F163-C337-8764-46C9-B97D967072DF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84562370" sldId="862"/>
            <ac:spMk id="678" creationId="{BF6BD7F3-0E2F-BE0A-25E8-F94975A8B9AA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84562370" sldId="862"/>
            <ac:spMk id="690" creationId="{060590AB-AE6E-9B4A-C454-8DB9AB40C791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84562370" sldId="862"/>
            <ac:spMk id="703" creationId="{A9671F12-07BC-72DE-F3D0-FB617F28F488}"/>
          </ac:spMkLst>
        </pc:spChg>
      </pc:sldChg>
      <pc:sldChg chg="addSp modSp add mod setBg">
        <pc:chgData name="" userId="" providerId="" clId="Web-{06CC7855-A2CD-44C8-B8B2-BE9C04B42096}" dt="2026-09-17T13:35:50.923" v="7" actId="34807"/>
        <pc:sldMkLst>
          <pc:docMk/>
          <pc:sldMk cId="346177538" sldId="1066"/>
        </pc:sldMkLst>
        <pc:spChg chg="add mod">
          <ac:chgData name="" userId="" providerId="" clId="Web-{06CC7855-A2CD-44C8-B8B2-BE9C04B42096}" dt="2026-09-17T13:35:50.923" v="7" actId="34807"/>
          <ac:spMkLst>
            <pc:docMk/>
            <pc:sldMk cId="346177538" sldId="1066"/>
            <ac:spMk id="748" creationId="{33D84548-FACF-3BA6-2328-52D937EF965A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346177538" sldId="1066"/>
            <ac:spMk id="765" creationId="{460A0A83-2ED7-96C1-13C5-8B2E81A4D745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346177538" sldId="1066"/>
            <ac:spMk id="802" creationId="{02C67860-5A05-073F-8DDE-B113FA6A5ECD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346177538" sldId="1066"/>
            <ac:spMk id="865" creationId="{64388631-3B06-8ACD-E71B-79C343DC7C9E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346177538" sldId="1066"/>
            <ac:spMk id="937" creationId="{C34057AE-C99E-04EB-6C42-1B6DC8D852C3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346177538" sldId="1066"/>
            <ac:spMk id="963" creationId="{4796D811-E6F6-0134-2F79-71A71C1F8AFE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346177538" sldId="1066"/>
            <ac:spMk id="1047" creationId="{F058706E-3CEB-1C4F-9CF1-5EB5CFD6CB4B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346177538" sldId="1066"/>
            <ac:spMk id="1077" creationId="{D25EB5E5-4392-8BF6-2411-A688F98DA3D7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346177538" sldId="1066"/>
            <ac:spMk id="1108" creationId="{6B32DA31-A019-4768-5762-395EC60DF6DB}"/>
          </ac:spMkLst>
        </pc:spChg>
        <pc:spChg chg="add mod">
          <ac:chgData name="" userId="" providerId="" clId="Web-{06CC7855-A2CD-44C8-B8B2-BE9C04B42096}" dt="2026-09-17T13:35:50.923" v="7" actId="34807"/>
          <ac:spMkLst>
            <pc:docMk/>
            <pc:sldMk cId="346177538" sldId="1066"/>
            <ac:spMk id="1140" creationId="{35AB7CE3-06DE-D73A-16F7-79A5EFAF908D}"/>
          </ac:spMkLst>
        </pc:spChg>
      </pc:sldChg>
      <pc:sldChg chg="addSp modSp add mod setBg">
        <pc:chgData name="" userId="" providerId="" clId="Web-{06CC7855-A2CD-44C8-B8B2-BE9C04B42096}" dt="2026-09-17T13:36:21.363" v="9" actId="34807"/>
        <pc:sldMkLst>
          <pc:docMk/>
          <pc:sldMk cId="1882499104" sldId="1271"/>
        </pc:sldMkLst>
        <pc:spChg chg="add mod">
          <ac:chgData name="" userId="" providerId="" clId="Web-{06CC7855-A2CD-44C8-B8B2-BE9C04B42096}" dt="2026-09-17T13:36:20.675" v="8" actId="34807"/>
          <ac:spMkLst>
            <pc:docMk/>
            <pc:sldMk cId="1882499104" sldId="1271"/>
            <ac:spMk id="1243" creationId="{D96D271B-F1B8-2B12-B696-1D085C98870B}"/>
          </ac:spMkLst>
        </pc:spChg>
        <pc:spChg chg="add mod">
          <ac:chgData name="" userId="" providerId="" clId="Web-{06CC7855-A2CD-44C8-B8B2-BE9C04B42096}" dt="2026-09-17T13:36:20.675" v="8" actId="34807"/>
          <ac:spMkLst>
            <pc:docMk/>
            <pc:sldMk cId="1882499104" sldId="1271"/>
            <ac:spMk id="1245" creationId="{7D46E4BF-F69D-8700-25D0-1F107303FF4B}"/>
          </ac:spMkLst>
        </pc:spChg>
        <pc:graphicFrameChg chg="add mod">
          <ac:chgData name="" userId="" providerId="" clId="Web-{06CC7855-A2CD-44C8-B8B2-BE9C04B42096}" dt="2026-09-17T13:36:21.363" v="9" actId="34807"/>
          <ac:graphicFrameMkLst>
            <pc:docMk/>
            <pc:sldMk cId="1882499104" sldId="1271"/>
            <ac:graphicFrameMk id="2" creationId="{436D1483-6F3E-38CD-1363-6570BE05756A}"/>
          </ac:graphicFrameMkLst>
        </pc:graphicFrameChg>
      </pc:sldChg>
      <pc:sldChg chg="addSp modSp add mod setBg">
        <pc:chgData name="" userId="" providerId="" clId="Web-{06CC7855-A2CD-44C8-B8B2-BE9C04B42096}" dt="2026-09-17T13:36:20.675" v="8" actId="34807"/>
        <pc:sldMkLst>
          <pc:docMk/>
          <pc:sldMk cId="446315763" sldId="1477"/>
        </pc:sldMkLst>
        <pc:spChg chg="add mod">
          <ac:chgData name="" userId="" providerId="" clId="Web-{06CC7855-A2CD-44C8-B8B2-BE9C04B42096}" dt="2026-09-17T13:36:20.675" v="8" actId="34807"/>
          <ac:spMkLst>
            <pc:docMk/>
            <pc:sldMk cId="446315763" sldId="1477"/>
            <ac:spMk id="1252" creationId="{5EFA7AD3-6080-4A8A-BD83-30491D989363}"/>
          </ac:spMkLst>
        </pc:spChg>
        <pc:spChg chg="add mod">
          <ac:chgData name="" userId="" providerId="" clId="Web-{06CC7855-A2CD-44C8-B8B2-BE9C04B42096}" dt="2026-09-17T13:36:20.675" v="8" actId="34807"/>
          <ac:spMkLst>
            <pc:docMk/>
            <pc:sldMk cId="446315763" sldId="1477"/>
            <ac:spMk id="1257" creationId="{669FD8F9-9C40-02C9-BA30-FB82E0409E97}"/>
          </ac:spMkLst>
        </pc:spChg>
        <pc:spChg chg="add mod">
          <ac:chgData name="" userId="" providerId="" clId="Web-{06CC7855-A2CD-44C8-B8B2-BE9C04B42096}" dt="2026-09-17T13:36:20.675" v="8" actId="34807"/>
          <ac:spMkLst>
            <pc:docMk/>
            <pc:sldMk cId="446315763" sldId="1477"/>
            <ac:spMk id="1297" creationId="{772D8348-F47E-2685-5247-B60EA9E120BF}"/>
          </ac:spMkLst>
        </pc:spChg>
        <pc:spChg chg="add mod">
          <ac:chgData name="" userId="" providerId="" clId="Web-{06CC7855-A2CD-44C8-B8B2-BE9C04B42096}" dt="2026-09-17T13:36:20.675" v="8" actId="34807"/>
          <ac:spMkLst>
            <pc:docMk/>
            <pc:sldMk cId="446315763" sldId="1477"/>
            <ac:spMk id="1320" creationId="{B5C0E69C-93B9-0CF5-2AC6-531E42F62C7D}"/>
          </ac:spMkLst>
        </pc:spChg>
        <pc:spChg chg="add mod">
          <ac:chgData name="" userId="" providerId="" clId="Web-{06CC7855-A2CD-44C8-B8B2-BE9C04B42096}" dt="2026-09-17T13:36:20.675" v="8" actId="34807"/>
          <ac:spMkLst>
            <pc:docMk/>
            <pc:sldMk cId="446315763" sldId="1477"/>
            <ac:spMk id="1333" creationId="{83C94866-FC01-9AE9-609D-39639FDCAC08}"/>
          </ac:spMkLst>
        </pc:spChg>
        <pc:spChg chg="add mod">
          <ac:chgData name="" userId="" providerId="" clId="Web-{06CC7855-A2CD-44C8-B8B2-BE9C04B42096}" dt="2026-09-17T13:36:20.675" v="8" actId="34807"/>
          <ac:spMkLst>
            <pc:docMk/>
            <pc:sldMk cId="446315763" sldId="1477"/>
            <ac:spMk id="1378" creationId="{A992BF4E-5D52-1436-34B2-02C54A80F5CE}"/>
          </ac:spMkLst>
        </pc:spChg>
        <pc:spChg chg="add mod">
          <ac:chgData name="" userId="" providerId="" clId="Web-{06CC7855-A2CD-44C8-B8B2-BE9C04B42096}" dt="2026-09-17T13:36:20.675" v="8" actId="34807"/>
          <ac:spMkLst>
            <pc:docMk/>
            <pc:sldMk cId="446315763" sldId="1477"/>
            <ac:spMk id="1413" creationId="{EC8501C3-D064-35A7-8B42-1085F5C5DC6B}"/>
          </ac:spMkLst>
        </pc:spChg>
        <pc:spChg chg="add mod">
          <ac:chgData name="" userId="" providerId="" clId="Web-{06CC7855-A2CD-44C8-B8B2-BE9C04B42096}" dt="2026-09-17T13:36:20.675" v="8" actId="34807"/>
          <ac:spMkLst>
            <pc:docMk/>
            <pc:sldMk cId="446315763" sldId="1477"/>
            <ac:spMk id="1452" creationId="{5DDCB820-DBAB-1AF8-201A-748C965B5F13}"/>
          </ac:spMkLst>
        </pc:spChg>
        <pc:spChg chg="add mod">
          <ac:chgData name="" userId="" providerId="" clId="Web-{06CC7855-A2CD-44C8-B8B2-BE9C04B42096}" dt="2026-09-17T13:36:20.675" v="8" actId="34807"/>
          <ac:spMkLst>
            <pc:docMk/>
            <pc:sldMk cId="446315763" sldId="1477"/>
            <ac:spMk id="1473" creationId="{E60818D4-65C1-846F-6E5C-9F27789B9A09}"/>
          </ac:spMkLst>
        </pc:spChg>
        <pc:spChg chg="add mod">
          <ac:chgData name="" userId="" providerId="" clId="Web-{06CC7855-A2CD-44C8-B8B2-BE9C04B42096}" dt="2026-09-17T13:36:20.675" v="8" actId="34807"/>
          <ac:spMkLst>
            <pc:docMk/>
            <pc:sldMk cId="446315763" sldId="1477"/>
            <ac:spMk id="1495" creationId="{A34C0CA8-6373-FB54-4A8E-0C63365CE325}"/>
          </ac:spMkLst>
        </pc:spChg>
      </pc:sldChg>
      <pc:sldChg chg="addSp modSp add mod setBg">
        <pc:chgData name="" userId="" providerId="" clId="Web-{06CC7855-A2CD-44C8-B8B2-BE9C04B42096}" dt="2026-09-17T13:37:00.787" v="10" actId="34807"/>
        <pc:sldMkLst>
          <pc:docMk/>
          <pc:sldMk cId="1198638757" sldId="1684"/>
        </pc:sldMkLst>
        <pc:spChg chg="add mod">
          <ac:chgData name="" userId="" providerId="" clId="Web-{06CC7855-A2CD-44C8-B8B2-BE9C04B42096}" dt="2026-09-17T13:37:00.787" v="10" actId="34807"/>
          <ac:spMkLst>
            <pc:docMk/>
            <pc:sldMk cId="1198638757" sldId="1684"/>
            <ac:spMk id="1519" creationId="{F9BC567E-E373-04F6-CAB7-09A8992C787C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198638757" sldId="1684"/>
            <ac:spMk id="1521" creationId="{A63E753E-E3BB-E24A-F659-32C8ADFBC818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198638757" sldId="1684"/>
            <ac:spMk id="1524" creationId="{057543EC-EFDD-FDC7-F8E1-A3DF5BE2090C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198638757" sldId="1684"/>
            <ac:spMk id="1528" creationId="{2905AB15-B5DA-D743-6C71-518633062E01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198638757" sldId="1684"/>
            <ac:spMk id="1539" creationId="{FBCC18D6-7537-68D5-9BA2-D1331771300C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198638757" sldId="1684"/>
            <ac:spMk id="1554" creationId="{35E0683E-89B8-BF64-8AFD-DCD2845236EB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198638757" sldId="1684"/>
            <ac:spMk id="1573" creationId="{61468528-D924-84FB-3E3D-FA0DE41B3585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198638757" sldId="1684"/>
            <ac:spMk id="1584" creationId="{8A70B647-0B06-DF4D-FC09-73012ED2DAB0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198638757" sldId="1684"/>
            <ac:spMk id="1609" creationId="{6B786D9E-E970-31AF-44B6-8A3A785A536A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198638757" sldId="1684"/>
            <ac:spMk id="1623" creationId="{C2A049C9-1269-492A-9A10-223CAC5C1360}"/>
          </ac:spMkLst>
        </pc:spChg>
      </pc:sldChg>
      <pc:sldChg chg="addSp modSp add mod setBg">
        <pc:chgData name="" userId="" providerId="" clId="Web-{06CC7855-A2CD-44C8-B8B2-BE9C04B42096}" dt="2026-09-17T13:37:00.787" v="10" actId="34807"/>
        <pc:sldMkLst>
          <pc:docMk/>
          <pc:sldMk cId="1871268532" sldId="1892"/>
        </pc:sldMkLst>
        <pc:spChg chg="add mod">
          <ac:chgData name="" userId="" providerId="" clId="Web-{06CC7855-A2CD-44C8-B8B2-BE9C04B42096}" dt="2026-09-17T13:37:00.787" v="10" actId="34807"/>
          <ac:spMkLst>
            <pc:docMk/>
            <pc:sldMk cId="1871268532" sldId="1892"/>
            <ac:spMk id="1654" creationId="{6483FAB5-9624-B0DF-A2F8-BF70597E8A07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871268532" sldId="1892"/>
            <ac:spMk id="1689" creationId="{69CED8B6-A8F0-0446-D4A3-422010B0093F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871268532" sldId="1892"/>
            <ac:spMk id="1708" creationId="{D89B9812-CAE6-43CC-6F46-603C4DB45FC2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871268532" sldId="1892"/>
            <ac:spMk id="1869" creationId="{0B3773D9-9B56-2933-F950-BAEB194A62D5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871268532" sldId="1892"/>
            <ac:spMk id="1924" creationId="{172B9E81-C455-E31D-9571-607E474132B6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871268532" sldId="1892"/>
            <ac:spMk id="1953" creationId="{377ED953-93B9-5542-5423-F2EF02728CD4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871268532" sldId="1892"/>
            <ac:spMk id="1983" creationId="{7912BC6C-3DEF-3A5D-FD11-43013008A143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871268532" sldId="1892"/>
            <ac:spMk id="2046" creationId="{E3F0AB66-A731-9AD7-7DD9-990119CFC747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871268532" sldId="1892"/>
            <ac:spMk id="2113" creationId="{110F3D90-AF46-30EE-65F6-70FE7E1F37A5}"/>
          </ac:spMkLst>
        </pc:spChg>
        <pc:spChg chg="add mod">
          <ac:chgData name="" userId="" providerId="" clId="Web-{06CC7855-A2CD-44C8-B8B2-BE9C04B42096}" dt="2026-09-17T13:37:00.787" v="10" actId="34807"/>
          <ac:spMkLst>
            <pc:docMk/>
            <pc:sldMk cId="1871268532" sldId="1892"/>
            <ac:spMk id="2148" creationId="{0B5EFFC2-356B-6381-9B1A-980373F01303}"/>
          </ac:spMkLst>
        </pc:spChg>
      </pc:sldChg>
      <pc:sldChg chg="addSp modSp add mod setBg">
        <pc:chgData name="" userId="" providerId="" clId="Web-{06CC7855-A2CD-44C8-B8B2-BE9C04B42096}" dt="2026-09-17T13:37:38.399" v="11" actId="34807"/>
        <pc:sldMkLst>
          <pc:docMk/>
          <pc:sldMk cId="1220310260" sldId="2101"/>
        </pc:sldMkLst>
        <pc:spChg chg="add mod">
          <ac:chgData name="" userId="" providerId="" clId="Web-{06CC7855-A2CD-44C8-B8B2-BE9C04B42096}" dt="2026-09-17T13:37:38.399" v="11" actId="34807"/>
          <ac:spMkLst>
            <pc:docMk/>
            <pc:sldMk cId="1220310260" sldId="2101"/>
            <ac:spMk id="2185" creationId="{D1BECD19-FB29-C485-AF27-43C1BFFEAD0E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1220310260" sldId="2101"/>
            <ac:spMk id="2187" creationId="{BBE6464E-AEB4-1450-31E3-E89898D78A9F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1220310260" sldId="2101"/>
            <ac:spMk id="2194" creationId="{52D34A35-D794-EFE1-D82B-5CDF9F5C94FD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1220310260" sldId="2101"/>
            <ac:spMk id="2205" creationId="{A55AB330-F0A1-7A8E-7D2E-0A8DA211BD45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1220310260" sldId="2101"/>
            <ac:spMk id="2220" creationId="{FC249A2E-C410-AF1D-34CC-97241C08C38F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1220310260" sldId="2101"/>
            <ac:spMk id="2229" creationId="{E66B06FA-04FA-7807-4EAA-BB78E43335BA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1220310260" sldId="2101"/>
            <ac:spMk id="2239" creationId="{57B043C5-6457-DD17-BFD4-D646C386C7DE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1220310260" sldId="2101"/>
            <ac:spMk id="2250" creationId="{71AB8B98-3676-77A6-4C38-899395D88B11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1220310260" sldId="2101"/>
            <ac:spMk id="2275" creationId="{5B6B779A-9BD3-4D30-EDF5-DEAD5704B0A0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1220310260" sldId="2101"/>
            <ac:spMk id="2289" creationId="{807E5A99-6AF9-6D25-EB62-A6AC25CC2109}"/>
          </ac:spMkLst>
        </pc:spChg>
      </pc:sldChg>
      <pc:sldChg chg="addSp modSp add mod setBg">
        <pc:chgData name="" userId="" providerId="" clId="Web-{06CC7855-A2CD-44C8-B8B2-BE9C04B42096}" dt="2026-09-17T13:37:38.399" v="11" actId="34807"/>
        <pc:sldMkLst>
          <pc:docMk/>
          <pc:sldMk cId="732256233" sldId="2311"/>
        </pc:sldMkLst>
        <pc:spChg chg="add mod">
          <ac:chgData name="" userId="" providerId="" clId="Web-{06CC7855-A2CD-44C8-B8B2-BE9C04B42096}" dt="2026-09-17T13:37:38.399" v="11" actId="34807"/>
          <ac:spMkLst>
            <pc:docMk/>
            <pc:sldMk cId="732256233" sldId="2311"/>
            <ac:spMk id="2304" creationId="{62274CD1-CF05-6B53-FDDA-8348605838A0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732256233" sldId="2311"/>
            <ac:spMk id="2394" creationId="{FD2F10CE-F8C6-D278-F9A8-BA402EE3A548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732256233" sldId="2311"/>
            <ac:spMk id="2415" creationId="{72EB9971-5E7B-F52F-2040-8DE73448704B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732256233" sldId="2311"/>
            <ac:spMk id="2509" creationId="{D4F40160-6DBB-E072-B726-B2B93D621ED7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732256233" sldId="2311"/>
            <ac:spMk id="2535" creationId="{9BD31409-0F8B-49DE-F844-FC024460A24E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732256233" sldId="2311"/>
            <ac:spMk id="2562" creationId="{7B04BAA7-17E0-2E76-30C4-98AA40B7ECE1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732256233" sldId="2311"/>
            <ac:spMk id="2680" creationId="{A9AA7872-4B28-0A0A-CC98-20F10521D2BD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732256233" sldId="2311"/>
            <ac:spMk id="2712" creationId="{F055EEE0-7E67-FB5D-92CD-9640BE599F45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732256233" sldId="2311"/>
            <ac:spMk id="2745" creationId="{7656E1B3-BB5B-438A-218D-CB9BCB9E392D}"/>
          </ac:spMkLst>
        </pc:spChg>
        <pc:spChg chg="add mod">
          <ac:chgData name="" userId="" providerId="" clId="Web-{06CC7855-A2CD-44C8-B8B2-BE9C04B42096}" dt="2026-09-17T13:37:38.399" v="11" actId="34807"/>
          <ac:spMkLst>
            <pc:docMk/>
            <pc:sldMk cId="732256233" sldId="2311"/>
            <ac:spMk id="2814" creationId="{3AF1B70F-41D0-8EDC-A7DC-28731F5D9710}"/>
          </ac:spMkLst>
        </pc:spChg>
      </pc:sldChg>
      <pc:sldChg chg="addSp modSp add mod setBg">
        <pc:chgData name="" userId="" providerId="" clId="Web-{06CC7855-A2CD-44C8-B8B2-BE9C04B42096}" dt="2026-09-17T13:38:15.199" v="12" actId="34807"/>
        <pc:sldMkLst>
          <pc:docMk/>
          <pc:sldMk cId="2129201543" sldId="2522"/>
        </pc:sldMkLst>
        <pc:spChg chg="add mod">
          <ac:chgData name="" userId="" providerId="" clId="Web-{06CC7855-A2CD-44C8-B8B2-BE9C04B42096}" dt="2026-09-17T13:38:15.199" v="12" actId="34807"/>
          <ac:spMkLst>
            <pc:docMk/>
            <pc:sldMk cId="2129201543" sldId="2522"/>
            <ac:spMk id="2817" creationId="{5EC82A8C-BB67-167D-010A-AD95CB51D081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2129201543" sldId="2522"/>
            <ac:spMk id="2820" creationId="{D08AF1E9-1902-B888-A4E2-10BE11BE917C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2129201543" sldId="2522"/>
            <ac:spMk id="2824" creationId="{87EB6571-049F-6B4F-4807-C684DAF06175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2129201543" sldId="2522"/>
            <ac:spMk id="2829" creationId="{972EAF4A-9F64-56F9-D5F3-AADAB6BD8709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2129201543" sldId="2522"/>
            <ac:spMk id="2835" creationId="{D0F571CF-5D2E-B2C1-FC9A-527A7E401215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2129201543" sldId="2522"/>
            <ac:spMk id="2850" creationId="{5ADC393A-E051-8E97-2EE4-52D03340ED07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2129201543" sldId="2522"/>
            <ac:spMk id="2859" creationId="{8EDA5CD1-8B2D-4732-BD30-751DBDBA5B56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2129201543" sldId="2522"/>
            <ac:spMk id="2869" creationId="{3981C875-1C53-F4E8-9D37-8C8B1483D374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2129201543" sldId="2522"/>
            <ac:spMk id="2880" creationId="{63A672EB-534A-F4F6-1538-47EBE418E5D5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2129201543" sldId="2522"/>
            <ac:spMk id="2905" creationId="{2B18E1B0-A190-E5C4-BB21-47D25192181A}"/>
          </ac:spMkLst>
        </pc:spChg>
      </pc:sldChg>
      <pc:sldChg chg="addSp modSp add mod setBg">
        <pc:chgData name="" userId="" providerId="" clId="Web-{06CC7855-A2CD-44C8-B8B2-BE9C04B42096}" dt="2026-09-17T13:38:15.199" v="12" actId="34807"/>
        <pc:sldMkLst>
          <pc:docMk/>
          <pc:sldMk cId="1011514021" sldId="2734"/>
        </pc:sldMkLst>
        <pc:spChg chg="add mod">
          <ac:chgData name="" userId="" providerId="" clId="Web-{06CC7855-A2CD-44C8-B8B2-BE9C04B42096}" dt="2026-09-17T13:38:15.199" v="12" actId="34807"/>
          <ac:spMkLst>
            <pc:docMk/>
            <pc:sldMk cId="1011514021" sldId="2734"/>
            <ac:spMk id="2919" creationId="{FB6F8D10-3B1A-6FE2-F0C7-0B6229194458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1011514021" sldId="2734"/>
            <ac:spMk id="2950" creationId="{C7AB53D9-E109-A5EA-4A43-389B45232DD3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1011514021" sldId="2734"/>
            <ac:spMk id="3024" creationId="{55C2C896-4B3B-74B0-CAB0-51D7D225014B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1011514021" sldId="2734"/>
            <ac:spMk id="3067" creationId="{9C06776B-F8C4-4105-C91E-CB8CD3AB5CBD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1011514021" sldId="2734"/>
            <ac:spMk id="3114" creationId="{1CA6DE97-3CE0-ACD6-B3EE-09C15CC795ED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1011514021" sldId="2734"/>
            <ac:spMk id="3165" creationId="{35D7157B-6DE8-DFA0-FA7B-714B7DFDA9FE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1011514021" sldId="2734"/>
            <ac:spMk id="3192" creationId="{1F48428B-D037-6674-3B7A-E2A7B588265C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1011514021" sldId="2734"/>
            <ac:spMk id="3220" creationId="{F67929F6-0FDF-375B-2C2E-94F44BEA5FE0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1011514021" sldId="2734"/>
            <ac:spMk id="3310" creationId="{BA030330-3545-AC31-53AC-B4DDEA21D67E}"/>
          </ac:spMkLst>
        </pc:spChg>
        <pc:spChg chg="add mod">
          <ac:chgData name="" userId="" providerId="" clId="Web-{06CC7855-A2CD-44C8-B8B2-BE9C04B42096}" dt="2026-09-17T13:38:15.199" v="12" actId="34807"/>
          <ac:spMkLst>
            <pc:docMk/>
            <pc:sldMk cId="1011514021" sldId="2734"/>
            <ac:spMk id="3342" creationId="{F928370B-66C1-8B20-95F5-20B1CC85DCB3}"/>
          </ac:spMkLst>
        </pc:spChg>
      </pc:sldChg>
      <pc:sldChg chg="addSp modSp add mod setBg">
        <pc:chgData name="" userId="" providerId="" clId="Web-{06CC7855-A2CD-44C8-B8B2-BE9C04B42096}" dt="2026-09-17T13:38:58.920" v="13" actId="34807"/>
        <pc:sldMkLst>
          <pc:docMk/>
          <pc:sldMk cId="2164510872" sldId="2947"/>
        </pc:sldMkLst>
        <pc:spChg chg="add mod">
          <ac:chgData name="" userId="" providerId="" clId="Web-{06CC7855-A2CD-44C8-B8B2-BE9C04B42096}" dt="2026-09-17T13:38:58.920" v="13" actId="34807"/>
          <ac:spMkLst>
            <pc:docMk/>
            <pc:sldMk cId="2164510872" sldId="2947"/>
            <ac:spMk id="3424" creationId="{9CA4C147-A997-23C1-DD7B-D798CE552650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164510872" sldId="2947"/>
            <ac:spMk id="3430" creationId="{F4F7F7CC-DB10-84E9-9117-9020A0764F6E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164510872" sldId="2947"/>
            <ac:spMk id="3437" creationId="{7CABA4CE-BECF-0E99-B5AF-87EF98C08A7C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164510872" sldId="2947"/>
            <ac:spMk id="3445" creationId="{0582F967-A40E-CCBC-0570-D108449B9CDB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164510872" sldId="2947"/>
            <ac:spMk id="3454" creationId="{79DA224C-673E-8DDF-1E74-FBA9B6632B8D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164510872" sldId="2947"/>
            <ac:spMk id="3475" creationId="{455BE4C9-6A3C-BB4D-5118-9417415FED42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164510872" sldId="2947"/>
            <ac:spMk id="3487" creationId="{57E38EB0-382E-3E53-6F7F-6E33D2D8DD32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164510872" sldId="2947"/>
            <ac:spMk id="3500" creationId="{F9305775-56CF-B2CA-4FE1-DCF95FAA55C9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164510872" sldId="2947"/>
            <ac:spMk id="3514" creationId="{EB3A0A14-A468-47EC-14F6-40C87F92D877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164510872" sldId="2947"/>
            <ac:spMk id="3529" creationId="{041C6373-41D8-F7E4-0B75-0E985C2ABE10}"/>
          </ac:spMkLst>
        </pc:spChg>
      </pc:sldChg>
      <pc:sldChg chg="addSp modSp add mod setBg">
        <pc:chgData name="" userId="" providerId="" clId="Web-{06CC7855-A2CD-44C8-B8B2-BE9C04B42096}" dt="2026-09-17T13:38:58.920" v="13" actId="34807"/>
        <pc:sldMkLst>
          <pc:docMk/>
          <pc:sldMk cId="276872681" sldId="3161"/>
        </pc:sldMkLst>
        <pc:spChg chg="add mod">
          <ac:chgData name="" userId="" providerId="" clId="Web-{06CC7855-A2CD-44C8-B8B2-BE9C04B42096}" dt="2026-09-17T13:38:58.920" v="13" actId="34807"/>
          <ac:spMkLst>
            <pc:docMk/>
            <pc:sldMk cId="276872681" sldId="3161"/>
            <ac:spMk id="3545" creationId="{B33E8115-9EDA-094C-CEBA-72CAA9AD47F0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76872681" sldId="3161"/>
            <ac:spMk id="3562" creationId="{A6A7C25E-EB8C-FD02-AB3C-99C8CB5525E6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76872681" sldId="3161"/>
            <ac:spMk id="3599" creationId="{00DF474C-7416-E993-524D-DED6422E76B3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76872681" sldId="3161"/>
            <ac:spMk id="3640" creationId="{CCB750BD-C5F1-E720-B360-6541F07E041A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76872681" sldId="3161"/>
            <ac:spMk id="3662" creationId="{B8CB01E8-AF6E-AE32-5E99-D898FC4E9EF4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76872681" sldId="3161"/>
            <ac:spMk id="3709" creationId="{97678142-3599-4A7B-379D-92010F5CB8F6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76872681" sldId="3161"/>
            <ac:spMk id="3874" creationId="{2344B2F1-11D6-AD33-A1E5-0CA49E1B71DB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76872681" sldId="3161"/>
            <ac:spMk id="3905" creationId="{A3BB45CF-6DD9-C7E6-0C54-D6F36D31311C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76872681" sldId="3161"/>
            <ac:spMk id="3937" creationId="{6F799BE5-2087-97A8-1A39-C62DB3EAEDAD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276872681" sldId="3161"/>
            <ac:spMk id="4004" creationId="{3CBFD811-DE46-2A40-AC91-3654DDB45E2D}"/>
          </ac:spMkLst>
        </pc:spChg>
      </pc:sldChg>
      <pc:sldChg chg="addSp modSp add mod setBg">
        <pc:chgData name="" userId="" providerId="" clId="Web-{06CC7855-A2CD-44C8-B8B2-BE9C04B42096}" dt="2026-09-17T13:38:58.920" v="13" actId="34807"/>
        <pc:sldMkLst>
          <pc:docMk/>
          <pc:sldMk cId="3006187828" sldId="3376"/>
        </pc:sldMkLst>
        <pc:spChg chg="add mod">
          <ac:chgData name="" userId="" providerId="" clId="Web-{06CC7855-A2CD-44C8-B8B2-BE9C04B42096}" dt="2026-09-17T13:38:58.920" v="13" actId="34807"/>
          <ac:spMkLst>
            <pc:docMk/>
            <pc:sldMk cId="3006187828" sldId="3376"/>
            <ac:spMk id="4112" creationId="{8394A04C-1A8A-3A72-926D-1DA4A4C30C4C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3006187828" sldId="3376"/>
            <ac:spMk id="4150" creationId="{36A2240C-4CC4-16A0-3FE2-7CEBD829CF42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3006187828" sldId="3376"/>
            <ac:spMk id="4189" creationId="{23B144E9-67B2-A537-307B-E05315969493}"/>
          </ac:spMkLst>
        </pc:spChg>
        <pc:spChg chg="add mod">
          <ac:chgData name="" userId="" providerId="" clId="Web-{06CC7855-A2CD-44C8-B8B2-BE9C04B42096}" dt="2026-09-17T13:38:58.920" v="13" actId="34807"/>
          <ac:spMkLst>
            <pc:docMk/>
            <pc:sldMk cId="3006187828" sldId="3376"/>
            <ac:spMk id="4229" creationId="{C54BCA53-C993-FC71-CC93-A0D4216314F6}"/>
          </ac:spMkLst>
        </pc:spChg>
      </pc:sldChg>
      <pc:sldMasterChg chg="modSp modSldLayout">
        <pc:chgData name="" userId="" providerId="" clId="Web-{06CC7855-A2CD-44C8-B8B2-BE9C04B42096}" dt="2026-09-17T13:34:03.650" v="0" actId="34807"/>
        <pc:sldMasterMkLst>
          <pc:docMk/>
          <pc:sldMasterMk cId="2209977519" sldId="2147483648"/>
        </pc:sldMasterMkLst>
        <pc:spChg chg="mod">
          <ac:chgData name="" userId="" providerId="" clId="Web-{06CC7855-A2CD-44C8-B8B2-BE9C04B42096}" dt="2026-09-17T13:34:03.650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06CC7855-A2CD-44C8-B8B2-BE9C04B42096}" dt="2026-09-17T13:34:03.650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06CC7855-A2CD-44C8-B8B2-BE9C04B42096}" dt="2026-09-17T13:34:03.650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06CC7855-A2CD-44C8-B8B2-BE9C04B42096}" dt="2026-09-17T13:34:03.650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06CC7855-A2CD-44C8-B8B2-BE9C04B42096}" dt="2026-09-17T13:34:03.650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06CC7855-A2CD-44C8-B8B2-BE9C04B42096}" dt="2026-09-17T13:34:03.650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06CC7855-A2CD-44C8-B8B2-BE9C04B42096}" dt="2026-09-17T13:34:03.650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06CC7855-A2CD-44C8-B8B2-BE9C04B42096}" dt="2026-09-17T13:34:03.650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06CC7855-A2CD-44C8-B8B2-BE9C04B42096}" dt="2026-09-17T13:34:03.650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06CC7855-A2CD-44C8-B8B2-BE9C04B42096}" dt="2026-09-17T13:34:03.650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06CC7855-A2CD-44C8-B8B2-BE9C04B42096}" dt="2026-09-17T13:34:03.650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06CC7855-A2CD-44C8-B8B2-BE9C04B42096}" dt="2026-09-17T13:34:03.650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06CC7855-A2CD-44C8-B8B2-BE9C04B42096}" dt="2026-09-17T13:34:03.650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 primer semestre 2026 (CHF M)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5"/>
                <c:pt idx="0">
                  <c:v>Industrias y Medioambiente</c:v>
                </c:pt>
                <c:pt idx="1">
                  <c:v>Recursos Naturales</c:v>
                </c:pt>
                <c:pt idx="2">
                  <c:v>Conectividad y Productos</c:v>
                </c:pt>
                <c:pt idx="3">
                  <c:v>Salud y Nutrición</c:v>
                </c:pt>
                <c:pt idx="4">
                  <c:v>Business Assurance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5"/>
                <c:pt idx="0">
                  <c:v>1312</c:v>
                </c:pt>
                <c:pt idx="1">
                  <c:v>842</c:v>
                </c:pt>
                <c:pt idx="2">
                  <c:v>686</c:v>
                </c:pt>
                <c:pt idx="3">
                  <c:v>441</c:v>
                </c:pt>
                <c:pt idx="4">
                  <c:v>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94-4581-868A-F8B5DD3D0B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67179487"/>
        <c:axId val="367176127"/>
      </c:barChart>
      <c:catAx>
        <c:axId val="3671794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7176127"/>
        <c:crosses val="autoZero"/>
        <c:auto val="1"/>
        <c:lblAlgn val="ctr"/>
        <c:lblOffset val="100"/>
        <c:noMultiLvlLbl val="0"/>
      </c:catAx>
      <c:valAx>
        <c:axId val="3671761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71794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0D780D-676E-408B-F6A8-EC98193E2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A1BFE5D-1ED9-86CB-27A6-ACFD28C17C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633">
              <a:alpha val="62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48C200-8C92-490C-A54C-964D4F70C9E1}"/>
              </a:ext>
            </a:extLst>
          </p:cNvPr>
          <p:cNvSpPr/>
          <p:nvPr/>
        </p:nvSpPr>
        <p:spPr>
          <a:xfrm>
            <a:off x="457200" y="2042160"/>
            <a:ext cx="11277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A9C4D2"/>
                </a:solidFill>
                <a:effectLst/>
                <a:latin typeface="Trebuchet MS" panose="020B0603020202020204" pitchFamily="34" charset="0"/>
              </a:rPr>
              <a:t>HACKATÓN TURING · PARTE 1 DE 3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73B369-6E0C-7BA6-6A2A-EB4D6B1EC613}"/>
              </a:ext>
            </a:extLst>
          </p:cNvPr>
          <p:cNvSpPr/>
          <p:nvPr/>
        </p:nvSpPr>
        <p:spPr>
          <a:xfrm>
            <a:off x="457200" y="2560320"/>
            <a:ext cx="11277600" cy="8077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Seis clientes y sus verticales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FE70F-B463-85A8-84CF-ADBB013333D5}"/>
              </a:ext>
            </a:extLst>
          </p:cNvPr>
          <p:cNvSpPr/>
          <p:nvPr/>
        </p:nvSpPr>
        <p:spPr>
          <a:xfrm>
            <a:off x="457200" y="3505200"/>
            <a:ext cx="11277600" cy="746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A9C4D2"/>
                </a:solidFill>
                <a:effectLst/>
                <a:latin typeface="Calibri" panose="020F0502020204030204" pitchFamily="34" charset="0"/>
              </a:rPr>
              <a:t>Quiénes son, en qué negocios juegan y dónde puede encajar un asistente de IA multimodal.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BCA941-B7FD-7BE5-6635-6F0B405A30BE}"/>
              </a:ext>
            </a:extLst>
          </p:cNvPr>
          <p:cNvSpPr/>
          <p:nvPr/>
        </p:nvSpPr>
        <p:spPr>
          <a:xfrm>
            <a:off x="457200" y="54864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A9C4D2"/>
                </a:solidFill>
                <a:effectLst/>
                <a:latin typeface="Calibri" panose="020F0502020204030204" pitchFamily="34" charset="0"/>
              </a:rPr>
              <a:t>Turing Innovation · Septiembre 2026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FA06C6D-D8B7-1D99-7962-A18102C51F24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CÓMO USAR ESTE DOSSIER</a:t>
            </a: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BF2D60-29C9-E282-1B05-B35666A58EA2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Esta parte presenta a los clientes; los retos y los números van en las otras dos</a:t>
            </a: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02E87C-84A1-024B-46D8-9318F0BF868F}"/>
              </a:ext>
            </a:extLst>
          </p:cNvPr>
          <p:cNvSpPr/>
          <p:nvPr/>
        </p:nvSpPr>
        <p:spPr>
          <a:xfrm>
            <a:off x="457200" y="2209800"/>
            <a:ext cx="3606800" cy="204216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DA6CC2-2131-7E90-39E1-B5BA647E7AC2}"/>
              </a:ext>
            </a:extLst>
          </p:cNvPr>
          <p:cNvSpPr/>
          <p:nvPr/>
        </p:nvSpPr>
        <p:spPr>
          <a:xfrm>
            <a:off x="4292600" y="2209800"/>
            <a:ext cx="3606800" cy="204216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0769D3-B5BC-A79F-ACCB-810D9CE896CD}"/>
              </a:ext>
            </a:extLst>
          </p:cNvPr>
          <p:cNvSpPr/>
          <p:nvPr/>
        </p:nvSpPr>
        <p:spPr>
          <a:xfrm>
            <a:off x="8128000" y="2209800"/>
            <a:ext cx="3606800" cy="204216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682BFE-3B3B-111A-07E1-B2879A62E184}"/>
              </a:ext>
            </a:extLst>
          </p:cNvPr>
          <p:cNvSpPr/>
          <p:nvPr/>
        </p:nvSpPr>
        <p:spPr>
          <a:xfrm>
            <a:off x="6400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1 · Clientes y verticales</a:t>
            </a:r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008337D-3E9F-9D05-E15E-13802DB06D13}"/>
              </a:ext>
            </a:extLst>
          </p:cNvPr>
          <p:cNvSpPr/>
          <p:nvPr/>
        </p:nvSpPr>
        <p:spPr>
          <a:xfrm>
            <a:off x="640080" y="2865120"/>
            <a:ext cx="3241040" cy="1203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Este documento. Quién es cada cliente y en qué líneas de negocio juega realmente.</a:t>
            </a:r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FA64EF4-1DE8-5208-03CE-2BA5508D9B75}"/>
              </a:ext>
            </a:extLst>
          </p:cNvPr>
          <p:cNvSpPr/>
          <p:nvPr/>
        </p:nvSpPr>
        <p:spPr>
          <a:xfrm>
            <a:off x="44754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2 · Los tres retos</a:t>
            </a:r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C5B1457-A08C-40DC-01DD-3507894090EE}"/>
              </a:ext>
            </a:extLst>
          </p:cNvPr>
          <p:cNvSpPr/>
          <p:nvPr/>
        </p:nvSpPr>
        <p:spPr>
          <a:xfrm>
            <a:off x="4475480" y="2865120"/>
            <a:ext cx="3241040" cy="1203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Dieciocho problemas escritos en primera persona, como los plantearía el cliente.</a:t>
            </a:r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7A88333-381B-1781-1281-57A51F2C46D4}"/>
              </a:ext>
            </a:extLst>
          </p:cNvPr>
          <p:cNvSpPr/>
          <p:nvPr/>
        </p:nvSpPr>
        <p:spPr>
          <a:xfrm>
            <a:off x="83108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3 · Los números</a:t>
            </a:r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BD232D0-6312-F283-AFDB-A6BF0DA5064E}"/>
              </a:ext>
            </a:extLst>
          </p:cNvPr>
          <p:cNvSpPr/>
          <p:nvPr/>
        </p:nvSpPr>
        <p:spPr>
          <a:xfrm>
            <a:off x="8310880" y="2865120"/>
            <a:ext cx="3241040" cy="1203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La volumetría de cada cuenta para dimensionar el business case.</a:t>
            </a:r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50326F8-52F7-4922-24AE-8DF7E7611A98}"/>
              </a:ext>
            </a:extLst>
          </p:cNvPr>
          <p:cNvSpPr/>
          <p:nvPr/>
        </p:nvSpPr>
        <p:spPr>
          <a:xfrm>
            <a:off x="457200" y="4526280"/>
            <a:ext cx="11277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El reto que elijas tiene que caer dentro de una vertical real del cliente, no al lado.</a:t>
            </a:r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4B5A4C5-3D89-2E53-9CF6-4EE387D389DB}"/>
              </a:ext>
            </a:extLst>
          </p:cNvPr>
          <p:cNvSpPr/>
          <p:nvPr/>
        </p:nvSpPr>
        <p:spPr>
          <a:xfrm>
            <a:off x="457200" y="54864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A2633"/>
                </a:solidFill>
                <a:effectLst/>
                <a:latin typeface="Calibri" panose="020F0502020204030204" pitchFamily="34" charset="0"/>
              </a:rPr>
              <a:t>Los seis clientes tienen carpeta activa en Preventa: ninguno es hipotético.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04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EAF13B1B-E295-E855-EF81-023BCBF986FE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LOS SEIS CLIENTES</a:t>
            </a:r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8901C0A-6BDE-72E0-FCCC-F75E7A8570EE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Seis sectores distintos y un mismo patrón de usuario: manos ocupadas y respuesta que caduca</a:t>
            </a:r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A272209-C8C6-0C9C-0FB6-7ACC0A4C351E}"/>
              </a:ext>
            </a:extLst>
          </p:cNvPr>
          <p:cNvSpPr/>
          <p:nvPr/>
        </p:nvSpPr>
        <p:spPr>
          <a:xfrm>
            <a:off x="4572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7CD33393-CD15-B3CA-51D8-92CDDE02C284}"/>
              </a:ext>
            </a:extLst>
          </p:cNvPr>
          <p:cNvSpPr/>
          <p:nvPr/>
        </p:nvSpPr>
        <p:spPr>
          <a:xfrm>
            <a:off x="42926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32C0BD4-C419-3D9C-9DE5-8CEAC9FFFA57}"/>
              </a:ext>
            </a:extLst>
          </p:cNvPr>
          <p:cNvSpPr/>
          <p:nvPr/>
        </p:nvSpPr>
        <p:spPr>
          <a:xfrm>
            <a:off x="81280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CAD9144-8738-B3F1-B6D9-6B128BA87219}"/>
              </a:ext>
            </a:extLst>
          </p:cNvPr>
          <p:cNvSpPr/>
          <p:nvPr/>
        </p:nvSpPr>
        <p:spPr>
          <a:xfrm>
            <a:off x="4572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E2D18DA4-5DEE-36F1-0DD8-0FCFF33E0255}"/>
              </a:ext>
            </a:extLst>
          </p:cNvPr>
          <p:cNvSpPr/>
          <p:nvPr/>
        </p:nvSpPr>
        <p:spPr>
          <a:xfrm>
            <a:off x="42926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01570558-6173-7E92-384D-C4847E41F547}"/>
              </a:ext>
            </a:extLst>
          </p:cNvPr>
          <p:cNvSpPr/>
          <p:nvPr/>
        </p:nvSpPr>
        <p:spPr>
          <a:xfrm>
            <a:off x="81280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CFCE9B61-ECAC-576F-92BE-CB6E11F26474}"/>
              </a:ext>
            </a:extLst>
          </p:cNvPr>
          <p:cNvSpPr/>
          <p:nvPr/>
        </p:nvSpPr>
        <p:spPr>
          <a:xfrm>
            <a:off x="6400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ONCE</a:t>
            </a:r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01E8CAC9-C62C-10EF-2D85-8FAE842BDD69}"/>
              </a:ext>
            </a:extLst>
          </p:cNvPr>
          <p:cNvSpPr/>
          <p:nvPr/>
        </p:nvSpPr>
        <p:spPr>
          <a:xfrm>
            <a:off x="6400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Accesibilidad, servicios sociales y el conjunto empresarial ILUNION.</a:t>
            </a:r>
            <a:endParaRPr lang="en-US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701E21DE-715A-321A-4CEF-15B1CE36F16D}"/>
              </a:ext>
            </a:extLst>
          </p:cNvPr>
          <p:cNvSpPr/>
          <p:nvPr/>
        </p:nvSpPr>
        <p:spPr>
          <a:xfrm>
            <a:off x="44754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SGS</a:t>
            </a:r>
            <a:endParaRPr lang="en-US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8023AA6C-1468-C17E-BCCF-C07349024327}"/>
              </a:ext>
            </a:extLst>
          </p:cNvPr>
          <p:cNvSpPr/>
          <p:nvPr/>
        </p:nvSpPr>
        <p:spPr>
          <a:xfrm>
            <a:off x="44754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Ensayo, inspección y certificación para industria y consumo.</a:t>
            </a:r>
            <a:endParaRPr lang="en-US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F0E447D0-D142-6328-3708-EAD02929994A}"/>
              </a:ext>
            </a:extLst>
          </p:cNvPr>
          <p:cNvSpPr/>
          <p:nvPr/>
        </p:nvSpPr>
        <p:spPr>
          <a:xfrm>
            <a:off x="83108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MAPFRE</a:t>
            </a:r>
            <a:endParaRPr lang="en-US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74598936-481E-7B7C-E9F2-C8D291572F6E}"/>
              </a:ext>
            </a:extLst>
          </p:cNvPr>
          <p:cNvSpPr/>
          <p:nvPr/>
        </p:nvSpPr>
        <p:spPr>
          <a:xfrm>
            <a:off x="83108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Auto, hogar, salud y vida para veintinueve millones de clientes.</a:t>
            </a:r>
            <a:endParaRPr lang="en-US"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50891AEC-C614-8892-87A5-CB09697612B4}"/>
              </a:ext>
            </a:extLst>
          </p:cNvPr>
          <p:cNvSpPr/>
          <p:nvPr/>
        </p:nvSpPr>
        <p:spPr>
          <a:xfrm>
            <a:off x="6400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Grupo TENDAM</a:t>
            </a:r>
            <a:endParaRPr lang="en-US"/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B7E0B235-C189-B351-A7F2-B70DEF9F7373}"/>
              </a:ext>
            </a:extLst>
          </p:cNvPr>
          <p:cNvSpPr/>
          <p:nvPr/>
        </p:nvSpPr>
        <p:spPr>
          <a:xfrm>
            <a:off x="6400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Doce marcas de moda, 1.844 tiendas y 27,6 millones de socios.</a:t>
            </a:r>
            <a:endParaRPr lang="en-US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D944AD2C-601D-C581-5943-687CC09EC98A}"/>
              </a:ext>
            </a:extLst>
          </p:cNvPr>
          <p:cNvSpPr/>
          <p:nvPr/>
        </p:nvSpPr>
        <p:spPr>
          <a:xfrm>
            <a:off x="44754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Mercadona</a:t>
            </a:r>
            <a:endParaRPr lang="en-US"/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7113EF53-4965-120B-CAD4-1EB6711BE2A9}"/>
              </a:ext>
            </a:extLst>
          </p:cNvPr>
          <p:cNvSpPr/>
          <p:nvPr/>
        </p:nvSpPr>
        <p:spPr>
          <a:xfrm>
            <a:off x="44754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1.672 supermercados en España y Portugal, más canal online.</a:t>
            </a:r>
            <a:endParaRPr lang="en-US"/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B85912B2-BBBD-58D1-4D31-AD3A00317227}"/>
              </a:ext>
            </a:extLst>
          </p:cNvPr>
          <p:cNvSpPr/>
          <p:nvPr/>
        </p:nvSpPr>
        <p:spPr>
          <a:xfrm>
            <a:off x="83108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Iberostar</a:t>
            </a:r>
            <a:endParaRPr lang="en-US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A17AD051-6071-164D-3021-2400C9455DA0}"/>
              </a:ext>
            </a:extLst>
          </p:cNvPr>
          <p:cNvSpPr/>
          <p:nvPr/>
        </p:nvSpPr>
        <p:spPr>
          <a:xfrm>
            <a:off x="83108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Un centenar de resorts en catorce países y la división de viajes.</a:t>
            </a:r>
            <a:endParaRPr lang="en-US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5EEDE51A-E32E-DE8C-AD85-3DBF0581E0AA}"/>
              </a:ext>
            </a:extLst>
          </p:cNvPr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Seis puertas de entrada distintas, todas con presupuesto de IA detrás.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76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Rectangle 612">
            <a:extLst>
              <a:ext uri="{FF2B5EF4-FFF2-40B4-BE49-F238E27FC236}">
                <a16:creationId xmlns:a16="http://schemas.microsoft.com/office/drawing/2014/main" id="{4B1795BD-EBED-3180-F54D-40144BF31CB0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ONCE · VERTICALES</a:t>
            </a:r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1935A3-0E50-6161-7D20-49345D7478CC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El Grupo Social ONCE son tres patas: la Organización, la Fundación y las empresas de ILUNION</a:t>
            </a:r>
            <a:endParaRPr lang="en-US"/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427AD703-2DAB-509A-60C0-3A8A0430B269}"/>
              </a:ext>
            </a:extLst>
          </p:cNvPr>
          <p:cNvSpPr/>
          <p:nvPr/>
        </p:nvSpPr>
        <p:spPr>
          <a:xfrm>
            <a:off x="457200" y="2209800"/>
            <a:ext cx="3530600" cy="120396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ONCE</a:t>
            </a:r>
          </a:p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Prestación de servicios especializados a personas ciegas, sostenida por una lotería social.</a:t>
            </a:r>
            <a:endParaRPr lang="en-US"/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F862FF6A-1BDF-B45E-A5FA-AE8054588D46}"/>
              </a:ext>
            </a:extLst>
          </p:cNvPr>
          <p:cNvSpPr/>
          <p:nvPr/>
        </p:nvSpPr>
        <p:spPr>
          <a:xfrm>
            <a:off x="4330700" y="2209800"/>
            <a:ext cx="3530600" cy="120396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FUNDACIÓN ONCE</a:t>
            </a:r>
          </a:p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Palanca de empleo, formación y accesibilidad universal, con programas propios.</a:t>
            </a:r>
            <a:endParaRPr lang="en-US"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657C0145-6CDA-962C-09F9-E665C8AF6A35}"/>
              </a:ext>
            </a:extLst>
          </p:cNvPr>
          <p:cNvSpPr/>
          <p:nvPr/>
        </p:nvSpPr>
        <p:spPr>
          <a:xfrm>
            <a:off x="8204200" y="2209800"/>
            <a:ext cx="3530600" cy="120396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ILUNION</a:t>
            </a:r>
          </a:p>
          <a:p>
            <a:pPr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Cinco divisiones y más de cincuenta líneas: facility services, sociosanitaria y turismo.</a:t>
            </a:r>
            <a:endParaRPr lang="en-US"/>
          </a:p>
        </p:txBody>
      </p:sp>
      <p:sp>
        <p:nvSpPr>
          <p:cNvPr id="633" name="Arrow: Right 632">
            <a:extLst>
              <a:ext uri="{FF2B5EF4-FFF2-40B4-BE49-F238E27FC236}">
                <a16:creationId xmlns:a16="http://schemas.microsoft.com/office/drawing/2014/main" id="{2F47D569-2AB7-CCA3-79EC-2982D9238D8B}"/>
              </a:ext>
            </a:extLst>
          </p:cNvPr>
          <p:cNvSpPr/>
          <p:nvPr/>
        </p:nvSpPr>
        <p:spPr>
          <a:xfrm>
            <a:off x="3987800" y="2743200"/>
            <a:ext cx="342900" cy="137160"/>
          </a:xfrm>
          <a:prstGeom prst="rightArrow">
            <a:avLst/>
          </a:prstGeom>
          <a:solidFill>
            <a:srgbClr val="B8431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0" name="Arrow: Right 639">
            <a:extLst>
              <a:ext uri="{FF2B5EF4-FFF2-40B4-BE49-F238E27FC236}">
                <a16:creationId xmlns:a16="http://schemas.microsoft.com/office/drawing/2014/main" id="{97C4FFCD-4446-9678-46D8-CDAD622F1479}"/>
              </a:ext>
            </a:extLst>
          </p:cNvPr>
          <p:cNvSpPr/>
          <p:nvPr/>
        </p:nvSpPr>
        <p:spPr>
          <a:xfrm>
            <a:off x="7861300" y="2743200"/>
            <a:ext cx="342900" cy="137160"/>
          </a:xfrm>
          <a:prstGeom prst="rightArrow">
            <a:avLst/>
          </a:prstGeom>
          <a:solidFill>
            <a:srgbClr val="B8431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B5EA9FB9-C6EB-8308-A2C8-2523692F58B7}"/>
              </a:ext>
            </a:extLst>
          </p:cNvPr>
          <p:cNvSpPr/>
          <p:nvPr/>
        </p:nvSpPr>
        <p:spPr>
          <a:xfrm>
            <a:off x="457200" y="3962400"/>
            <a:ext cx="3606800" cy="746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1.443 M€</a:t>
            </a:r>
            <a:endParaRPr lang="en-US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83D60201-A10F-8F01-D045-6F2072C49EFC}"/>
              </a:ext>
            </a:extLst>
          </p:cNvPr>
          <p:cNvSpPr/>
          <p:nvPr/>
        </p:nvSpPr>
        <p:spPr>
          <a:xfrm>
            <a:off x="457200" y="4800600"/>
            <a:ext cx="36068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A2633"/>
                </a:solidFill>
                <a:effectLst/>
                <a:latin typeface="Calibri" panose="020F0502020204030204" pitchFamily="34" charset="0"/>
              </a:rPr>
              <a:t>Ventas anuales del conjunto empresarial ILUNION</a:t>
            </a:r>
            <a:endParaRPr lang="en-US"/>
          </a:p>
        </p:txBody>
      </p:sp>
      <p:sp>
        <p:nvSpPr>
          <p:cNvPr id="667" name="Rectangle 666">
            <a:extLst>
              <a:ext uri="{FF2B5EF4-FFF2-40B4-BE49-F238E27FC236}">
                <a16:creationId xmlns:a16="http://schemas.microsoft.com/office/drawing/2014/main" id="{3548F163-C337-8764-46C9-B97D967072DF}"/>
              </a:ext>
            </a:extLst>
          </p:cNvPr>
          <p:cNvSpPr/>
          <p:nvPr/>
        </p:nvSpPr>
        <p:spPr>
          <a:xfrm>
            <a:off x="4292600" y="3962400"/>
            <a:ext cx="3606800" cy="746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+46.000</a:t>
            </a:r>
            <a:endParaRPr lang="en-US"/>
          </a:p>
        </p:txBody>
      </p:sp>
      <p:sp>
        <p:nvSpPr>
          <p:cNvPr id="678" name="Rectangle 677">
            <a:extLst>
              <a:ext uri="{FF2B5EF4-FFF2-40B4-BE49-F238E27FC236}">
                <a16:creationId xmlns:a16="http://schemas.microsoft.com/office/drawing/2014/main" id="{BF6BD7F3-0E2F-BE0A-25E8-F94975A8B9AA}"/>
              </a:ext>
            </a:extLst>
          </p:cNvPr>
          <p:cNvSpPr/>
          <p:nvPr/>
        </p:nvSpPr>
        <p:spPr>
          <a:xfrm>
            <a:off x="4292600" y="4800600"/>
            <a:ext cx="36068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A2633"/>
                </a:solidFill>
                <a:effectLst/>
                <a:latin typeface="Calibri" panose="020F0502020204030204" pitchFamily="34" charset="0"/>
              </a:rPr>
              <a:t>Personas empleadas en el conjunto del Grupo</a:t>
            </a:r>
            <a:endParaRPr lang="en-US"/>
          </a:p>
        </p:txBody>
      </p:sp>
      <p:sp>
        <p:nvSpPr>
          <p:cNvPr id="690" name="Rectangle 689">
            <a:extLst>
              <a:ext uri="{FF2B5EF4-FFF2-40B4-BE49-F238E27FC236}">
                <a16:creationId xmlns:a16="http://schemas.microsoft.com/office/drawing/2014/main" id="{060590AB-AE6E-9B4A-C454-8DB9AB40C791}"/>
              </a:ext>
            </a:extLst>
          </p:cNvPr>
          <p:cNvSpPr/>
          <p:nvPr/>
        </p:nvSpPr>
        <p:spPr>
          <a:xfrm>
            <a:off x="8128000" y="3962400"/>
            <a:ext cx="3606800" cy="746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238</a:t>
            </a:r>
            <a:endParaRPr lang="en-US"/>
          </a:p>
        </p:txBody>
      </p:sp>
      <p:sp>
        <p:nvSpPr>
          <p:cNvPr id="703" name="Rectangle 702">
            <a:extLst>
              <a:ext uri="{FF2B5EF4-FFF2-40B4-BE49-F238E27FC236}">
                <a16:creationId xmlns:a16="http://schemas.microsoft.com/office/drawing/2014/main" id="{A9671F12-07BC-72DE-F3D0-FB617F28F488}"/>
              </a:ext>
            </a:extLst>
          </p:cNvPr>
          <p:cNvSpPr/>
          <p:nvPr/>
        </p:nvSpPr>
        <p:spPr>
          <a:xfrm>
            <a:off x="8128000" y="4800600"/>
            <a:ext cx="36068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A2633"/>
                </a:solidFill>
                <a:effectLst/>
                <a:latin typeface="Calibri" panose="020F0502020204030204" pitchFamily="34" charset="0"/>
              </a:rPr>
              <a:t>Centros especiales de empleo de ILUNION</a:t>
            </a:r>
            <a:endParaRPr lang="en-US"/>
          </a:p>
        </p:txBody>
      </p:sp>
      <p:sp>
        <p:nvSpPr>
          <p:cNvPr id="717" name="Rectangle 716">
            <a:extLst>
              <a:ext uri="{FF2B5EF4-FFF2-40B4-BE49-F238E27FC236}">
                <a16:creationId xmlns:a16="http://schemas.microsoft.com/office/drawing/2014/main" id="{F9CCC1A4-FA7A-D967-64DE-F60C31BA3CD7}"/>
              </a:ext>
            </a:extLst>
          </p:cNvPr>
          <p:cNvSpPr/>
          <p:nvPr/>
        </p:nvSpPr>
        <p:spPr>
          <a:xfrm>
            <a:off x="457200" y="5638800"/>
            <a:ext cx="11277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La accesibilidad no es un extra en esta cuenta: es el producto. Todo lo que propongas se mide ahí.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Rectangle 731">
            <a:extLst>
              <a:ext uri="{FF2B5EF4-FFF2-40B4-BE49-F238E27FC236}">
                <a16:creationId xmlns:a16="http://schemas.microsoft.com/office/drawing/2014/main" id="{9B6AAFEC-4974-E0FE-63B0-5889D905DA34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ONCE · VERTICALES EN DETALLE</a:t>
            </a:r>
            <a:endParaRPr lang="en-US"/>
          </a:p>
        </p:txBody>
      </p:sp>
      <p:sp>
        <p:nvSpPr>
          <p:cNvPr id="748" name="Rectangle 747">
            <a:extLst>
              <a:ext uri="{FF2B5EF4-FFF2-40B4-BE49-F238E27FC236}">
                <a16:creationId xmlns:a16="http://schemas.microsoft.com/office/drawing/2014/main" id="{33D84548-FACF-3BA6-2328-52D937EF965A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ILUNION opera cinco divisiones y más de cincuenta líneas de actividad</a:t>
            </a:r>
            <a:endParaRPr lang="en-US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460A0A83-2ED7-96C1-13C5-8B2E81A4D745}"/>
              </a:ext>
            </a:extLst>
          </p:cNvPr>
          <p:cNvSpPr/>
          <p:nvPr/>
        </p:nvSpPr>
        <p:spPr>
          <a:xfrm>
            <a:off x="4572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F097B22D-B794-E5A1-F6AB-BDC52F2E9771}"/>
              </a:ext>
            </a:extLst>
          </p:cNvPr>
          <p:cNvSpPr/>
          <p:nvPr/>
        </p:nvSpPr>
        <p:spPr>
          <a:xfrm>
            <a:off x="42926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2" name="Rectangle 801">
            <a:extLst>
              <a:ext uri="{FF2B5EF4-FFF2-40B4-BE49-F238E27FC236}">
                <a16:creationId xmlns:a16="http://schemas.microsoft.com/office/drawing/2014/main" id="{02C67860-5A05-073F-8DDE-B113FA6A5ECD}"/>
              </a:ext>
            </a:extLst>
          </p:cNvPr>
          <p:cNvSpPr/>
          <p:nvPr/>
        </p:nvSpPr>
        <p:spPr>
          <a:xfrm>
            <a:off x="81280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880F0FDB-7C87-CBD6-2437-DC3339CF5A7E}"/>
              </a:ext>
            </a:extLst>
          </p:cNvPr>
          <p:cNvSpPr/>
          <p:nvPr/>
        </p:nvSpPr>
        <p:spPr>
          <a:xfrm>
            <a:off x="4572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3" name="Rectangle 842">
            <a:extLst>
              <a:ext uri="{FF2B5EF4-FFF2-40B4-BE49-F238E27FC236}">
                <a16:creationId xmlns:a16="http://schemas.microsoft.com/office/drawing/2014/main" id="{AB164074-76A9-8444-BCE1-963089B7333C}"/>
              </a:ext>
            </a:extLst>
          </p:cNvPr>
          <p:cNvSpPr/>
          <p:nvPr/>
        </p:nvSpPr>
        <p:spPr>
          <a:xfrm>
            <a:off x="42926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64388631-3B06-8ACD-E71B-79C343DC7C9E}"/>
              </a:ext>
            </a:extLst>
          </p:cNvPr>
          <p:cNvSpPr/>
          <p:nvPr/>
        </p:nvSpPr>
        <p:spPr>
          <a:xfrm>
            <a:off x="81280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ACCC8402-C1E7-A5A8-A7CF-586FEBE4DF3F}"/>
              </a:ext>
            </a:extLst>
          </p:cNvPr>
          <p:cNvSpPr/>
          <p:nvPr/>
        </p:nvSpPr>
        <p:spPr>
          <a:xfrm>
            <a:off x="6400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Business &amp; Facility</a:t>
            </a:r>
            <a:endParaRPr lang="en-US"/>
          </a:p>
        </p:txBody>
      </p:sp>
      <p:sp>
        <p:nvSpPr>
          <p:cNvPr id="912" name="Rectangle 911">
            <a:extLst>
              <a:ext uri="{FF2B5EF4-FFF2-40B4-BE49-F238E27FC236}">
                <a16:creationId xmlns:a16="http://schemas.microsoft.com/office/drawing/2014/main" id="{8148CC21-D46C-2CD0-FE88-E3F9CB643168}"/>
              </a:ext>
            </a:extLst>
          </p:cNvPr>
          <p:cNvSpPr/>
          <p:nvPr/>
        </p:nvSpPr>
        <p:spPr>
          <a:xfrm>
            <a:off x="6400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Limpieza, outsourcing, servicios industriales y logística para empresas.</a:t>
            </a:r>
            <a:endParaRPr lang="en-US"/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C34057AE-C99E-04EB-6C42-1B6DC8D852C3}"/>
              </a:ext>
            </a:extLst>
          </p:cNvPr>
          <p:cNvSpPr/>
          <p:nvPr/>
        </p:nvSpPr>
        <p:spPr>
          <a:xfrm>
            <a:off x="44754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Sociosanitaria</a:t>
            </a:r>
            <a:endParaRPr lang="en-US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4796D811-E6F6-0134-2F79-71A71C1F8AFE}"/>
              </a:ext>
            </a:extLst>
          </p:cNvPr>
          <p:cNvSpPr/>
          <p:nvPr/>
        </p:nvSpPr>
        <p:spPr>
          <a:xfrm>
            <a:off x="44754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Centros de día, residencias, fisioterapia y atención a mayores.</a:t>
            </a:r>
            <a:endParaRPr lang="en-US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10B13EEC-D699-5D14-B275-3B8888A8FA17}"/>
              </a:ext>
            </a:extLst>
          </p:cNvPr>
          <p:cNvSpPr/>
          <p:nvPr/>
        </p:nvSpPr>
        <p:spPr>
          <a:xfrm>
            <a:off x="83108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Consultoría</a:t>
            </a:r>
            <a:endParaRPr lang="en-US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FA0CD524-253F-B077-04ED-4A03BC68A39C}"/>
              </a:ext>
            </a:extLst>
          </p:cNvPr>
          <p:cNvSpPr/>
          <p:nvPr/>
        </p:nvSpPr>
        <p:spPr>
          <a:xfrm>
            <a:off x="83108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Accesibilidad universal, tecnología y consultoría para terceros.</a:t>
            </a:r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F058706E-3CEB-1C4F-9CF1-5EB5CFD6CB4B}"/>
              </a:ext>
            </a:extLst>
          </p:cNvPr>
          <p:cNvSpPr/>
          <p:nvPr/>
        </p:nvSpPr>
        <p:spPr>
          <a:xfrm>
            <a:off x="6400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Turismo</a:t>
            </a:r>
            <a:endParaRPr lang="en-US"/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D25EB5E5-4392-8BF6-2411-A688F98DA3D7}"/>
              </a:ext>
            </a:extLst>
          </p:cNvPr>
          <p:cNvSpPr/>
          <p:nvPr/>
        </p:nvSpPr>
        <p:spPr>
          <a:xfrm>
            <a:off x="6400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ILUNION Hoteles, con establecimientos urbanos y vacacionales accesibles.</a:t>
            </a:r>
            <a:endParaRPr lang="en-US"/>
          </a:p>
        </p:txBody>
      </p: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6B32DA31-A019-4768-5762-395EC60DF6DB}"/>
              </a:ext>
            </a:extLst>
          </p:cNvPr>
          <p:cNvSpPr/>
          <p:nvPr/>
        </p:nvSpPr>
        <p:spPr>
          <a:xfrm>
            <a:off x="44754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Comercialización</a:t>
            </a:r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35AB7CE3-06DE-D73A-16F7-79A5EFAF908D}"/>
              </a:ext>
            </a:extLst>
          </p:cNvPr>
          <p:cNvSpPr/>
          <p:nvPr/>
        </p:nvSpPr>
        <p:spPr>
          <a:xfrm>
            <a:off x="44754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Lavandería industrial, economía circular y tiendas en hospitales.</a:t>
            </a:r>
            <a:endParaRPr lang="en-US"/>
          </a:p>
        </p:txBody>
      </p:sp>
      <p:sp>
        <p:nvSpPr>
          <p:cNvPr id="1173" name="Rectangle 1172">
            <a:extLst>
              <a:ext uri="{FF2B5EF4-FFF2-40B4-BE49-F238E27FC236}">
                <a16:creationId xmlns:a16="http://schemas.microsoft.com/office/drawing/2014/main" id="{AD8B5DCE-28F4-DE0E-4F51-E8919B5C861F}"/>
              </a:ext>
            </a:extLst>
          </p:cNvPr>
          <p:cNvSpPr/>
          <p:nvPr/>
        </p:nvSpPr>
        <p:spPr>
          <a:xfrm>
            <a:off x="83108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Juego social ONCE</a:t>
            </a:r>
            <a:endParaRPr lang="en-US"/>
          </a:p>
        </p:txBody>
      </p:sp>
      <p:sp>
        <p:nvSpPr>
          <p:cNvPr id="1207" name="Rectangle 1206">
            <a:extLst>
              <a:ext uri="{FF2B5EF4-FFF2-40B4-BE49-F238E27FC236}">
                <a16:creationId xmlns:a16="http://schemas.microsoft.com/office/drawing/2014/main" id="{6C5773AF-017F-E6BF-E7D1-C1E910FF6DAF}"/>
              </a:ext>
            </a:extLst>
          </p:cNvPr>
          <p:cNvSpPr/>
          <p:nvPr/>
        </p:nvSpPr>
        <p:spPr>
          <a:xfrm>
            <a:off x="83108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Cupón diario, Instantánea, Juego Activo y el canal JuegosONCE.</a:t>
            </a:r>
            <a:endParaRPr lang="en-US"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D40C035D-2C1E-B860-2626-C93D6996B6DD}"/>
              </a:ext>
            </a:extLst>
          </p:cNvPr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Cinco divisiones y un canal de juego: cinco puertas distintas para el mismo asistente.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7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Rectangle 1242">
            <a:extLst>
              <a:ext uri="{FF2B5EF4-FFF2-40B4-BE49-F238E27FC236}">
                <a16:creationId xmlns:a16="http://schemas.microsoft.com/office/drawing/2014/main" id="{D96D271B-F1B8-2B12-B696-1D085C98870B}"/>
              </a:ext>
            </a:extLst>
          </p:cNvPr>
          <p:cNvSpPr/>
          <p:nvPr/>
        </p:nvSpPr>
        <p:spPr>
          <a:xfrm>
            <a:off x="457200" y="45720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SGS factura por líneas de ensayo e inspección; Industrias y Medioambiente pesa un tercio</a:t>
            </a:r>
            <a:endParaRPr lang="en-US"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7D46E4BF-F69D-8700-25D0-1F107303FF4B}"/>
              </a:ext>
            </a:extLst>
          </p:cNvPr>
          <p:cNvSpPr/>
          <p:nvPr/>
        </p:nvSpPr>
        <p:spPr>
          <a:xfrm>
            <a:off x="457200" y="5486400"/>
            <a:ext cx="112776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A2633"/>
                </a:solidFill>
                <a:effectLst/>
                <a:latin typeface="Calibri" panose="020F0502020204030204" pitchFamily="34" charset="0"/>
              </a:rPr>
              <a:t>CHF M, primer semestre 2026: Industrias y Medioambiente 1.312 · Recursos Naturales 842 · Conectividad y Productos 686 · Salud y Nutrición 441 · Business Assurance 402. Fuente: resultados semestrales publicados por SGS.</a:t>
            </a:r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36D1483-6F3E-38CD-1363-6570BE05756A}"/>
              </a:ext>
            </a:extLst>
          </p:cNvPr>
          <p:cNvGraphicFramePr/>
          <p:nvPr/>
        </p:nvGraphicFramePr>
        <p:xfrm>
          <a:off x="3048000" y="1355725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82499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Rectangle 1247">
            <a:extLst>
              <a:ext uri="{FF2B5EF4-FFF2-40B4-BE49-F238E27FC236}">
                <a16:creationId xmlns:a16="http://schemas.microsoft.com/office/drawing/2014/main" id="{B0029DC5-7D7A-9198-9BE5-173C343607F9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SGS · VERTICALES EN DETALLE</a:t>
            </a:r>
            <a:endParaRPr lang="en-US"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5EFA7AD3-6080-4A8A-BD83-30491D989363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Las líneas de SGS cubren desde el mineral hasta el dispositivo médico</a:t>
            </a:r>
            <a:endParaRPr lang="en-US"/>
          </a:p>
        </p:txBody>
      </p:sp>
      <p:sp>
        <p:nvSpPr>
          <p:cNvPr id="1257" name="Rectangle 1256">
            <a:extLst>
              <a:ext uri="{FF2B5EF4-FFF2-40B4-BE49-F238E27FC236}">
                <a16:creationId xmlns:a16="http://schemas.microsoft.com/office/drawing/2014/main" id="{669FD8F9-9C40-02C9-BA30-FB82E0409E97}"/>
              </a:ext>
            </a:extLst>
          </p:cNvPr>
          <p:cNvSpPr/>
          <p:nvPr/>
        </p:nvSpPr>
        <p:spPr>
          <a:xfrm>
            <a:off x="4572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3" name="Rectangle 1262">
            <a:extLst>
              <a:ext uri="{FF2B5EF4-FFF2-40B4-BE49-F238E27FC236}">
                <a16:creationId xmlns:a16="http://schemas.microsoft.com/office/drawing/2014/main" id="{2E1B8B05-9165-6C1C-3E5D-F56A8F04FE80}"/>
              </a:ext>
            </a:extLst>
          </p:cNvPr>
          <p:cNvSpPr/>
          <p:nvPr/>
        </p:nvSpPr>
        <p:spPr>
          <a:xfrm>
            <a:off x="42926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0" name="Rectangle 1269">
            <a:extLst>
              <a:ext uri="{FF2B5EF4-FFF2-40B4-BE49-F238E27FC236}">
                <a16:creationId xmlns:a16="http://schemas.microsoft.com/office/drawing/2014/main" id="{BDB25BE1-A84E-5ED4-A5D1-82BE0FA4CEA9}"/>
              </a:ext>
            </a:extLst>
          </p:cNvPr>
          <p:cNvSpPr/>
          <p:nvPr/>
        </p:nvSpPr>
        <p:spPr>
          <a:xfrm>
            <a:off x="81280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8" name="Rectangle 1277">
            <a:extLst>
              <a:ext uri="{FF2B5EF4-FFF2-40B4-BE49-F238E27FC236}">
                <a16:creationId xmlns:a16="http://schemas.microsoft.com/office/drawing/2014/main" id="{48B8FB5A-AB6D-BEB4-786F-629F32CC004C}"/>
              </a:ext>
            </a:extLst>
          </p:cNvPr>
          <p:cNvSpPr/>
          <p:nvPr/>
        </p:nvSpPr>
        <p:spPr>
          <a:xfrm>
            <a:off x="4572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7" name="Rectangle 1286">
            <a:extLst>
              <a:ext uri="{FF2B5EF4-FFF2-40B4-BE49-F238E27FC236}">
                <a16:creationId xmlns:a16="http://schemas.microsoft.com/office/drawing/2014/main" id="{0F5E8987-BD05-B8C6-C68E-31DA4ADB775D}"/>
              </a:ext>
            </a:extLst>
          </p:cNvPr>
          <p:cNvSpPr/>
          <p:nvPr/>
        </p:nvSpPr>
        <p:spPr>
          <a:xfrm>
            <a:off x="42926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7" name="Rectangle 1296">
            <a:extLst>
              <a:ext uri="{FF2B5EF4-FFF2-40B4-BE49-F238E27FC236}">
                <a16:creationId xmlns:a16="http://schemas.microsoft.com/office/drawing/2014/main" id="{772D8348-F47E-2685-5247-B60EA9E120BF}"/>
              </a:ext>
            </a:extLst>
          </p:cNvPr>
          <p:cNvSpPr/>
          <p:nvPr/>
        </p:nvSpPr>
        <p:spPr>
          <a:xfrm>
            <a:off x="81280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8" name="Rectangle 1307">
            <a:extLst>
              <a:ext uri="{FF2B5EF4-FFF2-40B4-BE49-F238E27FC236}">
                <a16:creationId xmlns:a16="http://schemas.microsoft.com/office/drawing/2014/main" id="{520FA61F-60BE-9EDB-FABB-1CEEDD704414}"/>
              </a:ext>
            </a:extLst>
          </p:cNvPr>
          <p:cNvSpPr/>
          <p:nvPr/>
        </p:nvSpPr>
        <p:spPr>
          <a:xfrm>
            <a:off x="6400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Industrias</a:t>
            </a:r>
            <a:endParaRPr lang="en-US"/>
          </a:p>
        </p:txBody>
      </p:sp>
      <p:sp>
        <p:nvSpPr>
          <p:cNvPr id="1320" name="Rectangle 1319">
            <a:extLst>
              <a:ext uri="{FF2B5EF4-FFF2-40B4-BE49-F238E27FC236}">
                <a16:creationId xmlns:a16="http://schemas.microsoft.com/office/drawing/2014/main" id="{B5C0E69C-93B9-0CF5-2AC6-531E42F62C7D}"/>
              </a:ext>
            </a:extLst>
          </p:cNvPr>
          <p:cNvSpPr/>
          <p:nvPr/>
        </p:nvSpPr>
        <p:spPr>
          <a:xfrm>
            <a:off x="6400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Inspección industrial, seguridad, medioambiente y activos críticos.</a:t>
            </a:r>
            <a:endParaRPr lang="en-US"/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83C94866-FC01-9AE9-609D-39639FDCAC08}"/>
              </a:ext>
            </a:extLst>
          </p:cNvPr>
          <p:cNvSpPr/>
          <p:nvPr/>
        </p:nvSpPr>
        <p:spPr>
          <a:xfrm>
            <a:off x="44754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Recursos Naturales</a:t>
            </a:r>
            <a:endParaRPr lang="en-US"/>
          </a:p>
        </p:txBody>
      </p:sp>
      <p:sp>
        <p:nvSpPr>
          <p:cNvPr id="1347" name="Rectangle 1346">
            <a:extLst>
              <a:ext uri="{FF2B5EF4-FFF2-40B4-BE49-F238E27FC236}">
                <a16:creationId xmlns:a16="http://schemas.microsoft.com/office/drawing/2014/main" id="{81541D68-5E54-343C-DF5F-913AA6BB5834}"/>
              </a:ext>
            </a:extLst>
          </p:cNvPr>
          <p:cNvSpPr/>
          <p:nvPr/>
        </p:nvSpPr>
        <p:spPr>
          <a:xfrm>
            <a:off x="44754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Minerales, metalurgia, petróleo, gas, química y agricultura.</a:t>
            </a:r>
            <a:endParaRPr lang="en-US"/>
          </a:p>
        </p:txBody>
      </p:sp>
      <p:sp>
        <p:nvSpPr>
          <p:cNvPr id="1362" name="Rectangle 1361">
            <a:extLst>
              <a:ext uri="{FF2B5EF4-FFF2-40B4-BE49-F238E27FC236}">
                <a16:creationId xmlns:a16="http://schemas.microsoft.com/office/drawing/2014/main" id="{133A420F-A4A0-E6DA-1AE5-20FDFBE44D69}"/>
              </a:ext>
            </a:extLst>
          </p:cNvPr>
          <p:cNvSpPr/>
          <p:nvPr/>
        </p:nvSpPr>
        <p:spPr>
          <a:xfrm>
            <a:off x="83108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Conectividad</a:t>
            </a:r>
            <a:endParaRPr lang="en-US"/>
          </a:p>
        </p:txBody>
      </p:sp>
      <p:sp>
        <p:nvSpPr>
          <p:cNvPr id="1378" name="Rectangle 1377">
            <a:extLst>
              <a:ext uri="{FF2B5EF4-FFF2-40B4-BE49-F238E27FC236}">
                <a16:creationId xmlns:a16="http://schemas.microsoft.com/office/drawing/2014/main" id="{A992BF4E-5D52-1436-34B2-02C54A80F5CE}"/>
              </a:ext>
            </a:extLst>
          </p:cNvPr>
          <p:cNvSpPr/>
          <p:nvPr/>
        </p:nvSpPr>
        <p:spPr>
          <a:xfrm>
            <a:off x="83108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Electrónica, ciberseguridad y bienes de consumo.</a:t>
            </a:r>
            <a:endParaRPr lang="en-US"/>
          </a:p>
        </p:txBody>
      </p:sp>
      <p:sp>
        <p:nvSpPr>
          <p:cNvPr id="1395" name="Rectangle 1394">
            <a:extLst>
              <a:ext uri="{FF2B5EF4-FFF2-40B4-BE49-F238E27FC236}">
                <a16:creationId xmlns:a16="http://schemas.microsoft.com/office/drawing/2014/main" id="{1C323F69-20B5-EFDF-EDA2-48D729811F40}"/>
              </a:ext>
            </a:extLst>
          </p:cNvPr>
          <p:cNvSpPr/>
          <p:nvPr/>
        </p:nvSpPr>
        <p:spPr>
          <a:xfrm>
            <a:off x="6400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Salud y Nutrición</a:t>
            </a:r>
            <a:endParaRPr lang="en-US"/>
          </a:p>
        </p:txBody>
      </p:sp>
      <p:sp>
        <p:nvSpPr>
          <p:cNvPr id="1413" name="Rectangle 1412">
            <a:extLst>
              <a:ext uri="{FF2B5EF4-FFF2-40B4-BE49-F238E27FC236}">
                <a16:creationId xmlns:a16="http://schemas.microsoft.com/office/drawing/2014/main" id="{EC8501C3-D064-35A7-8B42-1085F5C5DC6B}"/>
              </a:ext>
            </a:extLst>
          </p:cNvPr>
          <p:cNvSpPr/>
          <p:nvPr/>
        </p:nvSpPr>
        <p:spPr>
          <a:xfrm>
            <a:off x="6400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Alimentación, cosmética, farmacia y dispositivos médicos.</a:t>
            </a:r>
            <a:endParaRPr lang="en-US"/>
          </a:p>
        </p:txBody>
      </p:sp>
      <p:sp>
        <p:nvSpPr>
          <p:cNvPr id="1432" name="Rectangle 1431">
            <a:extLst>
              <a:ext uri="{FF2B5EF4-FFF2-40B4-BE49-F238E27FC236}">
                <a16:creationId xmlns:a16="http://schemas.microsoft.com/office/drawing/2014/main" id="{4CA2CF12-D493-072A-FF87-8F36F92EAAC3}"/>
              </a:ext>
            </a:extLst>
          </p:cNvPr>
          <p:cNvSpPr/>
          <p:nvPr/>
        </p:nvSpPr>
        <p:spPr>
          <a:xfrm>
            <a:off x="44754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Business Assurance</a:t>
            </a:r>
            <a:endParaRPr lang="en-US"/>
          </a:p>
        </p:txBody>
      </p:sp>
      <p:sp>
        <p:nvSpPr>
          <p:cNvPr id="1452" name="Rectangle 1451">
            <a:extLst>
              <a:ext uri="{FF2B5EF4-FFF2-40B4-BE49-F238E27FC236}">
                <a16:creationId xmlns:a16="http://schemas.microsoft.com/office/drawing/2014/main" id="{5DDCB820-DBAB-1AF8-201A-748C965B5F13}"/>
              </a:ext>
            </a:extLst>
          </p:cNvPr>
          <p:cNvSpPr/>
          <p:nvPr/>
        </p:nvSpPr>
        <p:spPr>
          <a:xfrm>
            <a:off x="44754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Certificación de sistemas, sostenibilidad y confianza digital.</a:t>
            </a:r>
            <a:endParaRPr lang="en-US"/>
          </a:p>
        </p:txBody>
      </p:sp>
      <p:sp>
        <p:nvSpPr>
          <p:cNvPr id="1473" name="Rectangle 1472">
            <a:extLst>
              <a:ext uri="{FF2B5EF4-FFF2-40B4-BE49-F238E27FC236}">
                <a16:creationId xmlns:a16="http://schemas.microsoft.com/office/drawing/2014/main" id="{E60818D4-65C1-846F-6E5C-9F27789B9A09}"/>
              </a:ext>
            </a:extLst>
          </p:cNvPr>
          <p:cNvSpPr/>
          <p:nvPr/>
        </p:nvSpPr>
        <p:spPr>
          <a:xfrm>
            <a:off x="83108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Marcas propias</a:t>
            </a:r>
            <a:endParaRPr lang="en-US"/>
          </a:p>
        </p:txBody>
      </p:sp>
      <p:sp>
        <p:nvSpPr>
          <p:cNvPr id="1495" name="Rectangle 1494">
            <a:extLst>
              <a:ext uri="{FF2B5EF4-FFF2-40B4-BE49-F238E27FC236}">
                <a16:creationId xmlns:a16="http://schemas.microsoft.com/office/drawing/2014/main" id="{A34C0CA8-6373-FB54-4A8E-0C63365CE325}"/>
              </a:ext>
            </a:extLst>
          </p:cNvPr>
          <p:cNvSpPr/>
          <p:nvPr/>
        </p:nvSpPr>
        <p:spPr>
          <a:xfrm>
            <a:off x="83108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Applied Technical Services, Brightsight, Bluesign y Nutrasource.</a:t>
            </a:r>
            <a:endParaRPr lang="en-US"/>
          </a:p>
        </p:txBody>
      </p:sp>
      <p:sp>
        <p:nvSpPr>
          <p:cNvPr id="1518" name="Rectangle 1517">
            <a:extLst>
              <a:ext uri="{FF2B5EF4-FFF2-40B4-BE49-F238E27FC236}">
                <a16:creationId xmlns:a16="http://schemas.microsoft.com/office/drawing/2014/main" id="{63C7EAA7-A1B8-84F3-A69D-EE7CE05357C1}"/>
              </a:ext>
            </a:extLst>
          </p:cNvPr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Salud y Nutrición y Conectividad son las líneas donde el usuario final es un consumidor.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15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Rectangle 1518">
            <a:extLst>
              <a:ext uri="{FF2B5EF4-FFF2-40B4-BE49-F238E27FC236}">
                <a16:creationId xmlns:a16="http://schemas.microsoft.com/office/drawing/2014/main" id="{F9BC567E-E373-04F6-CAB7-09A8992C787C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MAPFRE · VERTICALES</a:t>
            </a:r>
            <a:endParaRPr lang="en-US"/>
          </a:p>
        </p:txBody>
      </p:sp>
      <p:sp>
        <p:nvSpPr>
          <p:cNvPr id="1521" name="Rectangle 1520">
            <a:extLst>
              <a:ext uri="{FF2B5EF4-FFF2-40B4-BE49-F238E27FC236}">
                <a16:creationId xmlns:a16="http://schemas.microsoft.com/office/drawing/2014/main" id="{A63E753E-E3BB-E24A-F659-32C8ADFBC818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MAPFRE vende a particulares, a autónomos y empresas y a grandes riesgos, con reaseguro propio</a:t>
            </a:r>
            <a:endParaRPr lang="en-US"/>
          </a:p>
        </p:txBody>
      </p:sp>
      <p:sp>
        <p:nvSpPr>
          <p:cNvPr id="1524" name="Rectangle 1523">
            <a:extLst>
              <a:ext uri="{FF2B5EF4-FFF2-40B4-BE49-F238E27FC236}">
                <a16:creationId xmlns:a16="http://schemas.microsoft.com/office/drawing/2014/main" id="{057543EC-EFDD-FDC7-F8E1-A3DF5BE2090C}"/>
              </a:ext>
            </a:extLst>
          </p:cNvPr>
          <p:cNvSpPr/>
          <p:nvPr/>
        </p:nvSpPr>
        <p:spPr>
          <a:xfrm>
            <a:off x="457200" y="2209800"/>
            <a:ext cx="55245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8" name="Rectangle 1527">
            <a:extLst>
              <a:ext uri="{FF2B5EF4-FFF2-40B4-BE49-F238E27FC236}">
                <a16:creationId xmlns:a16="http://schemas.microsoft.com/office/drawing/2014/main" id="{2905AB15-B5DA-D743-6C71-518633062E01}"/>
              </a:ext>
            </a:extLst>
          </p:cNvPr>
          <p:cNvSpPr/>
          <p:nvPr/>
        </p:nvSpPr>
        <p:spPr>
          <a:xfrm>
            <a:off x="6210300" y="2209800"/>
            <a:ext cx="55245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3" name="Rectangle 1532">
            <a:extLst>
              <a:ext uri="{FF2B5EF4-FFF2-40B4-BE49-F238E27FC236}">
                <a16:creationId xmlns:a16="http://schemas.microsoft.com/office/drawing/2014/main" id="{B8052AC7-CE42-B5FC-E3DA-19A93709E54A}"/>
              </a:ext>
            </a:extLst>
          </p:cNvPr>
          <p:cNvSpPr/>
          <p:nvPr/>
        </p:nvSpPr>
        <p:spPr>
          <a:xfrm>
            <a:off x="457200" y="3962400"/>
            <a:ext cx="55245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9" name="Rectangle 1538">
            <a:extLst>
              <a:ext uri="{FF2B5EF4-FFF2-40B4-BE49-F238E27FC236}">
                <a16:creationId xmlns:a16="http://schemas.microsoft.com/office/drawing/2014/main" id="{FBCC18D6-7537-68D5-9BA2-D1331771300C}"/>
              </a:ext>
            </a:extLst>
          </p:cNvPr>
          <p:cNvSpPr/>
          <p:nvPr/>
        </p:nvSpPr>
        <p:spPr>
          <a:xfrm>
            <a:off x="6210300" y="3962400"/>
            <a:ext cx="55245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6" name="Rectangle 1545">
            <a:extLst>
              <a:ext uri="{FF2B5EF4-FFF2-40B4-BE49-F238E27FC236}">
                <a16:creationId xmlns:a16="http://schemas.microsoft.com/office/drawing/2014/main" id="{0954E6EC-3D0E-3A0D-1148-D45A8B75B913}"/>
              </a:ext>
            </a:extLst>
          </p:cNvPr>
          <p:cNvSpPr/>
          <p:nvPr/>
        </p:nvSpPr>
        <p:spPr>
          <a:xfrm>
            <a:off x="640080" y="2392680"/>
            <a:ext cx="51587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Particulares y familias</a:t>
            </a:r>
            <a:endParaRPr lang="en-US"/>
          </a:p>
        </p:txBody>
      </p:sp>
      <p:sp>
        <p:nvSpPr>
          <p:cNvPr id="1554" name="Rectangle 1553">
            <a:extLst>
              <a:ext uri="{FF2B5EF4-FFF2-40B4-BE49-F238E27FC236}">
                <a16:creationId xmlns:a16="http://schemas.microsoft.com/office/drawing/2014/main" id="{35E0683E-89B8-BF64-8AFD-DCD2845236EB}"/>
              </a:ext>
            </a:extLst>
          </p:cNvPr>
          <p:cNvSpPr/>
          <p:nvPr/>
        </p:nvSpPr>
        <p:spPr>
          <a:xfrm>
            <a:off x="640080" y="2865120"/>
            <a:ext cx="51587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Vida, salud, hogar, automóvil, ahorro, jubilación y viaje. Es el volumen y el contacto diario con el cliente.</a:t>
            </a:r>
            <a:endParaRPr lang="en-US"/>
          </a:p>
        </p:txBody>
      </p:sp>
      <p:sp>
        <p:nvSpPr>
          <p:cNvPr id="1563" name="Rectangle 1562">
            <a:extLst>
              <a:ext uri="{FF2B5EF4-FFF2-40B4-BE49-F238E27FC236}">
                <a16:creationId xmlns:a16="http://schemas.microsoft.com/office/drawing/2014/main" id="{6CD05CB7-41EB-B96F-F8EB-6C36FE55F69E}"/>
              </a:ext>
            </a:extLst>
          </p:cNvPr>
          <p:cNvSpPr/>
          <p:nvPr/>
        </p:nvSpPr>
        <p:spPr>
          <a:xfrm>
            <a:off x="6393180" y="2392680"/>
            <a:ext cx="51587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Autónomos y pequeña empresa</a:t>
            </a:r>
            <a:endParaRPr lang="en-US"/>
          </a:p>
        </p:txBody>
      </p:sp>
      <p:sp>
        <p:nvSpPr>
          <p:cNvPr id="1573" name="Rectangle 1572">
            <a:extLst>
              <a:ext uri="{FF2B5EF4-FFF2-40B4-BE49-F238E27FC236}">
                <a16:creationId xmlns:a16="http://schemas.microsoft.com/office/drawing/2014/main" id="{61468528-D924-84FB-3E3D-FA0DE41B3585}"/>
              </a:ext>
            </a:extLst>
          </p:cNvPr>
          <p:cNvSpPr/>
          <p:nvPr/>
        </p:nvSpPr>
        <p:spPr>
          <a:xfrm>
            <a:off x="6393180" y="2865120"/>
            <a:ext cx="51587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Vehículos, protección del patrimonio, agricultura y otros riesgos personales del negocio.</a:t>
            </a:r>
            <a:endParaRPr lang="en-US"/>
          </a:p>
        </p:txBody>
      </p:sp>
      <p:sp>
        <p:nvSpPr>
          <p:cNvPr id="1584" name="Rectangle 1583">
            <a:extLst>
              <a:ext uri="{FF2B5EF4-FFF2-40B4-BE49-F238E27FC236}">
                <a16:creationId xmlns:a16="http://schemas.microsoft.com/office/drawing/2014/main" id="{8A70B647-0B06-DF4D-FC09-73012ED2DAB0}"/>
              </a:ext>
            </a:extLst>
          </p:cNvPr>
          <p:cNvSpPr/>
          <p:nvPr/>
        </p:nvSpPr>
        <p:spPr>
          <a:xfrm>
            <a:off x="640080" y="4145280"/>
            <a:ext cx="51587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Empresas y Global Risks</a:t>
            </a:r>
            <a:endParaRPr lang="en-US"/>
          </a:p>
        </p:txBody>
      </p:sp>
      <p:sp>
        <p:nvSpPr>
          <p:cNvPr id="1596" name="Rectangle 1595">
            <a:extLst>
              <a:ext uri="{FF2B5EF4-FFF2-40B4-BE49-F238E27FC236}">
                <a16:creationId xmlns:a16="http://schemas.microsoft.com/office/drawing/2014/main" id="{C9DF813A-0A86-094D-990C-CCB9059E4309}"/>
              </a:ext>
            </a:extLst>
          </p:cNvPr>
          <p:cNvSpPr/>
          <p:nvPr/>
        </p:nvSpPr>
        <p:spPr>
          <a:xfrm>
            <a:off x="640080" y="4617720"/>
            <a:ext cx="51587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Aviación, energía, industria y construcción, con programas mundiales y beneficios de empleados.</a:t>
            </a:r>
            <a:endParaRPr lang="en-US"/>
          </a:p>
        </p:txBody>
      </p:sp>
      <p:sp>
        <p:nvSpPr>
          <p:cNvPr id="1609" name="Rectangle 1608">
            <a:extLst>
              <a:ext uri="{FF2B5EF4-FFF2-40B4-BE49-F238E27FC236}">
                <a16:creationId xmlns:a16="http://schemas.microsoft.com/office/drawing/2014/main" id="{6B786D9E-E970-31AF-44B6-8A3A785A536A}"/>
              </a:ext>
            </a:extLst>
          </p:cNvPr>
          <p:cNvSpPr/>
          <p:nvPr/>
        </p:nvSpPr>
        <p:spPr>
          <a:xfrm>
            <a:off x="6393180" y="4145280"/>
            <a:ext cx="51587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Reaseguro y gestión de activos</a:t>
            </a:r>
            <a:endParaRPr lang="en-US"/>
          </a:p>
        </p:txBody>
      </p:sp>
      <p:sp>
        <p:nvSpPr>
          <p:cNvPr id="1623" name="Rectangle 1622">
            <a:extLst>
              <a:ext uri="{FF2B5EF4-FFF2-40B4-BE49-F238E27FC236}">
                <a16:creationId xmlns:a16="http://schemas.microsoft.com/office/drawing/2014/main" id="{C2A049C9-1269-492A-9A10-223CAC5C1360}"/>
              </a:ext>
            </a:extLst>
          </p:cNvPr>
          <p:cNvSpPr/>
          <p:nvPr/>
        </p:nvSpPr>
        <p:spPr>
          <a:xfrm>
            <a:off x="6393180" y="4617720"/>
            <a:ext cx="51587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MAPFRE RE opera en más de cien países y MAPFRE AM gestiona la inversión con criterios responsables.</a:t>
            </a:r>
            <a:endParaRPr lang="en-US"/>
          </a:p>
        </p:txBody>
      </p:sp>
      <p:sp>
        <p:nvSpPr>
          <p:cNvPr id="1638" name="Rectangle 1637">
            <a:extLst>
              <a:ext uri="{FF2B5EF4-FFF2-40B4-BE49-F238E27FC236}">
                <a16:creationId xmlns:a16="http://schemas.microsoft.com/office/drawing/2014/main" id="{2D0B863A-5EA3-7FE5-A89E-F0C2DD2F517E}"/>
              </a:ext>
            </a:extLst>
          </p:cNvPr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El asegurado particular es donde vive el volumen: veintinueve millones de clientes con app.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38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Rectangle 1653">
            <a:extLst>
              <a:ext uri="{FF2B5EF4-FFF2-40B4-BE49-F238E27FC236}">
                <a16:creationId xmlns:a16="http://schemas.microsoft.com/office/drawing/2014/main" id="{6483FAB5-9624-B0DF-A2F8-BF70597E8A07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MAPFRE · VERTICALES EN DETALLE</a:t>
            </a:r>
            <a:endParaRPr lang="en-US"/>
          </a:p>
        </p:txBody>
      </p:sp>
      <p:sp>
        <p:nvSpPr>
          <p:cNvPr id="1671" name="Rectangle 1670">
            <a:extLst>
              <a:ext uri="{FF2B5EF4-FFF2-40B4-BE49-F238E27FC236}">
                <a16:creationId xmlns:a16="http://schemas.microsoft.com/office/drawing/2014/main" id="{C31FD280-03D3-2F8D-7404-A848BFE96827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Los ramos de MAPFRE van del seguro de coche al reaseguro en cien países</a:t>
            </a:r>
            <a:endParaRPr lang="en-US"/>
          </a:p>
        </p:txBody>
      </p:sp>
      <p:sp>
        <p:nvSpPr>
          <p:cNvPr id="1689" name="Rectangle 1688">
            <a:extLst>
              <a:ext uri="{FF2B5EF4-FFF2-40B4-BE49-F238E27FC236}">
                <a16:creationId xmlns:a16="http://schemas.microsoft.com/office/drawing/2014/main" id="{69CED8B6-A8F0-0446-D4A3-422010B0093F}"/>
              </a:ext>
            </a:extLst>
          </p:cNvPr>
          <p:cNvSpPr/>
          <p:nvPr/>
        </p:nvSpPr>
        <p:spPr>
          <a:xfrm>
            <a:off x="4572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D89B9812-CAE6-43CC-6F46-603C4DB45FC2}"/>
              </a:ext>
            </a:extLst>
          </p:cNvPr>
          <p:cNvSpPr/>
          <p:nvPr/>
        </p:nvSpPr>
        <p:spPr>
          <a:xfrm>
            <a:off x="42926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8" name="Rectangle 1727">
            <a:extLst>
              <a:ext uri="{FF2B5EF4-FFF2-40B4-BE49-F238E27FC236}">
                <a16:creationId xmlns:a16="http://schemas.microsoft.com/office/drawing/2014/main" id="{6CED1FD7-B424-1FBF-678E-D3573B617C7A}"/>
              </a:ext>
            </a:extLst>
          </p:cNvPr>
          <p:cNvSpPr/>
          <p:nvPr/>
        </p:nvSpPr>
        <p:spPr>
          <a:xfrm>
            <a:off x="81280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9" name="Rectangle 1748">
            <a:extLst>
              <a:ext uri="{FF2B5EF4-FFF2-40B4-BE49-F238E27FC236}">
                <a16:creationId xmlns:a16="http://schemas.microsoft.com/office/drawing/2014/main" id="{1E8249CA-998C-B187-0D7E-B3413A9A8058}"/>
              </a:ext>
            </a:extLst>
          </p:cNvPr>
          <p:cNvSpPr/>
          <p:nvPr/>
        </p:nvSpPr>
        <p:spPr>
          <a:xfrm>
            <a:off x="4572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1" name="Rectangle 1770">
            <a:extLst>
              <a:ext uri="{FF2B5EF4-FFF2-40B4-BE49-F238E27FC236}">
                <a16:creationId xmlns:a16="http://schemas.microsoft.com/office/drawing/2014/main" id="{E224D279-41AA-A03F-8C32-AE746FB97B26}"/>
              </a:ext>
            </a:extLst>
          </p:cNvPr>
          <p:cNvSpPr/>
          <p:nvPr/>
        </p:nvSpPr>
        <p:spPr>
          <a:xfrm>
            <a:off x="42926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4" name="Rectangle 1793">
            <a:extLst>
              <a:ext uri="{FF2B5EF4-FFF2-40B4-BE49-F238E27FC236}">
                <a16:creationId xmlns:a16="http://schemas.microsoft.com/office/drawing/2014/main" id="{367D4377-4E8B-CE8B-AC31-0DFCE46D2711}"/>
              </a:ext>
            </a:extLst>
          </p:cNvPr>
          <p:cNvSpPr/>
          <p:nvPr/>
        </p:nvSpPr>
        <p:spPr>
          <a:xfrm>
            <a:off x="81280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8" name="Rectangle 1817">
            <a:extLst>
              <a:ext uri="{FF2B5EF4-FFF2-40B4-BE49-F238E27FC236}">
                <a16:creationId xmlns:a16="http://schemas.microsoft.com/office/drawing/2014/main" id="{9B5BBFDD-31FE-F958-A1CF-87F7359E6CFE}"/>
              </a:ext>
            </a:extLst>
          </p:cNvPr>
          <p:cNvSpPr/>
          <p:nvPr/>
        </p:nvSpPr>
        <p:spPr>
          <a:xfrm>
            <a:off x="6400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Automóviles</a:t>
            </a:r>
            <a:endParaRPr lang="en-US"/>
          </a:p>
        </p:txBody>
      </p:sp>
      <p:sp>
        <p:nvSpPr>
          <p:cNvPr id="1843" name="Rectangle 1842">
            <a:extLst>
              <a:ext uri="{FF2B5EF4-FFF2-40B4-BE49-F238E27FC236}">
                <a16:creationId xmlns:a16="http://schemas.microsoft.com/office/drawing/2014/main" id="{035C4267-DC03-8604-9F59-EFB8FF1C9E8A}"/>
              </a:ext>
            </a:extLst>
          </p:cNvPr>
          <p:cNvSpPr/>
          <p:nvPr/>
        </p:nvSpPr>
        <p:spPr>
          <a:xfrm>
            <a:off x="6400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El ramo con más siniestros y más contacto con el asegurado.</a:t>
            </a:r>
            <a:endParaRPr lang="en-US"/>
          </a:p>
        </p:txBody>
      </p:sp>
      <p:sp>
        <p:nvSpPr>
          <p:cNvPr id="1869" name="Rectangle 1868">
            <a:extLst>
              <a:ext uri="{FF2B5EF4-FFF2-40B4-BE49-F238E27FC236}">
                <a16:creationId xmlns:a16="http://schemas.microsoft.com/office/drawing/2014/main" id="{0B3773D9-9B56-2933-F950-BAEB194A62D5}"/>
              </a:ext>
            </a:extLst>
          </p:cNvPr>
          <p:cNvSpPr/>
          <p:nvPr/>
        </p:nvSpPr>
        <p:spPr>
          <a:xfrm>
            <a:off x="44754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Salud y Accidentes</a:t>
            </a:r>
            <a:endParaRPr lang="en-US"/>
          </a:p>
        </p:txBody>
      </p:sp>
      <p:sp>
        <p:nvSpPr>
          <p:cNvPr id="1896" name="Rectangle 1895">
            <a:extLst>
              <a:ext uri="{FF2B5EF4-FFF2-40B4-BE49-F238E27FC236}">
                <a16:creationId xmlns:a16="http://schemas.microsoft.com/office/drawing/2014/main" id="{C13E3EF9-1505-2959-2D30-6EE037F6276F}"/>
              </a:ext>
            </a:extLst>
          </p:cNvPr>
          <p:cNvSpPr/>
          <p:nvPr/>
        </p:nvSpPr>
        <p:spPr>
          <a:xfrm>
            <a:off x="44754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Cuadro médico, reembolso, dental y la telemedicina de Savia.</a:t>
            </a:r>
            <a:endParaRPr lang="en-US"/>
          </a:p>
        </p:txBody>
      </p:sp>
      <p:sp>
        <p:nvSpPr>
          <p:cNvPr id="1924" name="Rectangle 1923">
            <a:extLst>
              <a:ext uri="{FF2B5EF4-FFF2-40B4-BE49-F238E27FC236}">
                <a16:creationId xmlns:a16="http://schemas.microsoft.com/office/drawing/2014/main" id="{172B9E81-C455-E31D-9571-607E474132B6}"/>
              </a:ext>
            </a:extLst>
          </p:cNvPr>
          <p:cNvSpPr/>
          <p:nvPr/>
        </p:nvSpPr>
        <p:spPr>
          <a:xfrm>
            <a:off x="83108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Hogar y patrimonio</a:t>
            </a:r>
            <a:endParaRPr lang="en-US"/>
          </a:p>
        </p:txBody>
      </p:sp>
      <p:sp>
        <p:nvSpPr>
          <p:cNvPr id="1953" name="Rectangle 1952">
            <a:extLst>
              <a:ext uri="{FF2B5EF4-FFF2-40B4-BE49-F238E27FC236}">
                <a16:creationId xmlns:a16="http://schemas.microsoft.com/office/drawing/2014/main" id="{377ED953-93B9-5542-5423-F2EF02728CD4}"/>
              </a:ext>
            </a:extLst>
          </p:cNvPr>
          <p:cNvSpPr/>
          <p:nvPr/>
        </p:nvSpPr>
        <p:spPr>
          <a:xfrm>
            <a:off x="83108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Seguros generales de hogar, comunidades, comercio y agricultura.</a:t>
            </a:r>
            <a:endParaRPr lang="en-US"/>
          </a:p>
        </p:txBody>
      </p:sp>
      <p:sp>
        <p:nvSpPr>
          <p:cNvPr id="1983" name="Rectangle 1982">
            <a:extLst>
              <a:ext uri="{FF2B5EF4-FFF2-40B4-BE49-F238E27FC236}">
                <a16:creationId xmlns:a16="http://schemas.microsoft.com/office/drawing/2014/main" id="{7912BC6C-3DEF-3A5D-FD11-43013008A143}"/>
              </a:ext>
            </a:extLst>
          </p:cNvPr>
          <p:cNvSpPr/>
          <p:nvPr/>
        </p:nvSpPr>
        <p:spPr>
          <a:xfrm>
            <a:off x="6400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Vida y ahorro</a:t>
            </a:r>
            <a:endParaRPr lang="en-US"/>
          </a:p>
        </p:txBody>
      </p:sp>
      <p:sp>
        <p:nvSpPr>
          <p:cNvPr id="2014" name="Rectangle 2013">
            <a:extLst>
              <a:ext uri="{FF2B5EF4-FFF2-40B4-BE49-F238E27FC236}">
                <a16:creationId xmlns:a16="http://schemas.microsoft.com/office/drawing/2014/main" id="{A0181631-9557-F4F0-F55C-99E62D66057F}"/>
              </a:ext>
            </a:extLst>
          </p:cNvPr>
          <p:cNvSpPr/>
          <p:nvPr/>
        </p:nvSpPr>
        <p:spPr>
          <a:xfrm>
            <a:off x="6400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Vida riesgo, vida ahorro, jubilación y fondos de MAPFRE AM.</a:t>
            </a:r>
            <a:endParaRPr lang="en-US"/>
          </a:p>
        </p:txBody>
      </p:sp>
      <p:sp>
        <p:nvSpPr>
          <p:cNvPr id="2046" name="Rectangle 2045">
            <a:extLst>
              <a:ext uri="{FF2B5EF4-FFF2-40B4-BE49-F238E27FC236}">
                <a16:creationId xmlns:a16="http://schemas.microsoft.com/office/drawing/2014/main" id="{E3F0AB66-A731-9AD7-7DD9-990119CFC747}"/>
              </a:ext>
            </a:extLst>
          </p:cNvPr>
          <p:cNvSpPr/>
          <p:nvPr/>
        </p:nvSpPr>
        <p:spPr>
          <a:xfrm>
            <a:off x="44754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Global Risks</a:t>
            </a:r>
            <a:endParaRPr lang="en-US"/>
          </a:p>
        </p:txBody>
      </p:sp>
      <p:sp>
        <p:nvSpPr>
          <p:cNvPr id="2079" name="Rectangle 2078">
            <a:extLst>
              <a:ext uri="{FF2B5EF4-FFF2-40B4-BE49-F238E27FC236}">
                <a16:creationId xmlns:a16="http://schemas.microsoft.com/office/drawing/2014/main" id="{C51FCC74-6D07-5474-3F1B-630137B73F78}"/>
              </a:ext>
            </a:extLst>
          </p:cNvPr>
          <p:cNvSpPr/>
          <p:nvPr/>
        </p:nvSpPr>
        <p:spPr>
          <a:xfrm>
            <a:off x="44754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Aviación, energía, industria, construcción y programas mundiales.</a:t>
            </a:r>
            <a:endParaRPr lang="en-US"/>
          </a:p>
        </p:txBody>
      </p:sp>
      <p:sp>
        <p:nvSpPr>
          <p:cNvPr id="2113" name="Rectangle 2112">
            <a:extLst>
              <a:ext uri="{FF2B5EF4-FFF2-40B4-BE49-F238E27FC236}">
                <a16:creationId xmlns:a16="http://schemas.microsoft.com/office/drawing/2014/main" id="{110F3D90-AF46-30EE-65F6-70FE7E1F37A5}"/>
              </a:ext>
            </a:extLst>
          </p:cNvPr>
          <p:cNvSpPr/>
          <p:nvPr/>
        </p:nvSpPr>
        <p:spPr>
          <a:xfrm>
            <a:off x="83108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Reaseguro y asistencia</a:t>
            </a:r>
            <a:endParaRPr lang="en-US"/>
          </a:p>
        </p:txBody>
      </p:sp>
      <p:sp>
        <p:nvSpPr>
          <p:cNvPr id="2148" name="Rectangle 2147">
            <a:extLst>
              <a:ext uri="{FF2B5EF4-FFF2-40B4-BE49-F238E27FC236}">
                <a16:creationId xmlns:a16="http://schemas.microsoft.com/office/drawing/2014/main" id="{0B5EFFC2-356B-6381-9B1A-980373F01303}"/>
              </a:ext>
            </a:extLst>
          </p:cNvPr>
          <p:cNvSpPr/>
          <p:nvPr/>
        </p:nvSpPr>
        <p:spPr>
          <a:xfrm>
            <a:off x="83108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MAPFRE RE en más de cien países y la asistencia en viaje de MAWDY.</a:t>
            </a:r>
            <a:endParaRPr lang="en-US"/>
          </a:p>
        </p:txBody>
      </p:sp>
      <p:sp>
        <p:nvSpPr>
          <p:cNvPr id="2184" name="Rectangle 2183">
            <a:extLst>
              <a:ext uri="{FF2B5EF4-FFF2-40B4-BE49-F238E27FC236}">
                <a16:creationId xmlns:a16="http://schemas.microsoft.com/office/drawing/2014/main" id="{58D075F0-8DAE-9CB4-3B01-43C0ABE4494B}"/>
              </a:ext>
            </a:extLst>
          </p:cNvPr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Automóviles y Salud concentran el volumen de interacciones: ahí vive el caso.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68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Rectangle 2184">
            <a:extLst>
              <a:ext uri="{FF2B5EF4-FFF2-40B4-BE49-F238E27FC236}">
                <a16:creationId xmlns:a16="http://schemas.microsoft.com/office/drawing/2014/main" id="{D1BECD19-FB29-C485-AF27-43C1BFFEAD0E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GRUPO TENDAM · VERTICALES</a:t>
            </a:r>
            <a:endParaRPr lang="en-US"/>
          </a:p>
        </p:txBody>
      </p:sp>
      <p:sp>
        <p:nvSpPr>
          <p:cNvPr id="2187" name="Rectangle 2186">
            <a:extLst>
              <a:ext uri="{FF2B5EF4-FFF2-40B4-BE49-F238E27FC236}">
                <a16:creationId xmlns:a16="http://schemas.microsoft.com/office/drawing/2014/main" id="{BBE6464E-AEB4-1450-31E3-E89898D78A9F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Tendam no es una marca: son doce, con un club de fidelidad que genera tres de cada cuatro ventas</a:t>
            </a:r>
            <a:endParaRPr lang="en-US"/>
          </a:p>
        </p:txBody>
      </p:sp>
      <p:sp>
        <p:nvSpPr>
          <p:cNvPr id="2190" name="Rectangle 2189">
            <a:extLst>
              <a:ext uri="{FF2B5EF4-FFF2-40B4-BE49-F238E27FC236}">
                <a16:creationId xmlns:a16="http://schemas.microsoft.com/office/drawing/2014/main" id="{11AE8265-256F-E3CC-6DF6-6497AF5A11F6}"/>
              </a:ext>
            </a:extLst>
          </p:cNvPr>
          <p:cNvSpPr/>
          <p:nvPr/>
        </p:nvSpPr>
        <p:spPr>
          <a:xfrm>
            <a:off x="457200" y="2209800"/>
            <a:ext cx="2647950" cy="746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12</a:t>
            </a:r>
            <a:endParaRPr lang="en-US"/>
          </a:p>
        </p:txBody>
      </p:sp>
      <p:sp>
        <p:nvSpPr>
          <p:cNvPr id="2194" name="Rectangle 2193">
            <a:extLst>
              <a:ext uri="{FF2B5EF4-FFF2-40B4-BE49-F238E27FC236}">
                <a16:creationId xmlns:a16="http://schemas.microsoft.com/office/drawing/2014/main" id="{52D34A35-D794-EFE1-D82B-5CDF9F5C94FD}"/>
              </a:ext>
            </a:extLst>
          </p:cNvPr>
          <p:cNvSpPr/>
          <p:nvPr/>
        </p:nvSpPr>
        <p:spPr>
          <a:xfrm>
            <a:off x="457200" y="3048000"/>
            <a:ext cx="264795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A2633"/>
                </a:solidFill>
                <a:effectLst/>
                <a:latin typeface="Calibri" panose="020F0502020204030204" pitchFamily="34" charset="0"/>
              </a:rPr>
              <a:t>Marcas propias del grupo</a:t>
            </a:r>
            <a:endParaRPr lang="en-US"/>
          </a:p>
        </p:txBody>
      </p:sp>
      <p:sp>
        <p:nvSpPr>
          <p:cNvPr id="2199" name="Rectangle 2198">
            <a:extLst>
              <a:ext uri="{FF2B5EF4-FFF2-40B4-BE49-F238E27FC236}">
                <a16:creationId xmlns:a16="http://schemas.microsoft.com/office/drawing/2014/main" id="{25F40FD5-5D98-F8B7-BDC8-D7262C2788B9}"/>
              </a:ext>
            </a:extLst>
          </p:cNvPr>
          <p:cNvSpPr/>
          <p:nvPr/>
        </p:nvSpPr>
        <p:spPr>
          <a:xfrm>
            <a:off x="3333750" y="2209800"/>
            <a:ext cx="2647950" cy="746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1.844</a:t>
            </a:r>
            <a:endParaRPr lang="en-US"/>
          </a:p>
        </p:txBody>
      </p:sp>
      <p:sp>
        <p:nvSpPr>
          <p:cNvPr id="2205" name="Rectangle 2204">
            <a:extLst>
              <a:ext uri="{FF2B5EF4-FFF2-40B4-BE49-F238E27FC236}">
                <a16:creationId xmlns:a16="http://schemas.microsoft.com/office/drawing/2014/main" id="{A55AB330-F0A1-7A8E-7D2E-0A8DA211BD45}"/>
              </a:ext>
            </a:extLst>
          </p:cNvPr>
          <p:cNvSpPr/>
          <p:nvPr/>
        </p:nvSpPr>
        <p:spPr>
          <a:xfrm>
            <a:off x="3333750" y="3048000"/>
            <a:ext cx="264795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A2633"/>
                </a:solidFill>
                <a:effectLst/>
                <a:latin typeface="Calibri" panose="020F0502020204030204" pitchFamily="34" charset="0"/>
              </a:rPr>
              <a:t>Puntos de venta en el mundo</a:t>
            </a:r>
            <a:endParaRPr lang="en-US"/>
          </a:p>
        </p:txBody>
      </p:sp>
      <p:sp>
        <p:nvSpPr>
          <p:cNvPr id="2212" name="Rectangle 2211">
            <a:extLst>
              <a:ext uri="{FF2B5EF4-FFF2-40B4-BE49-F238E27FC236}">
                <a16:creationId xmlns:a16="http://schemas.microsoft.com/office/drawing/2014/main" id="{5FB9D4A9-A453-65DD-3B51-AF68FB7B8389}"/>
              </a:ext>
            </a:extLst>
          </p:cNvPr>
          <p:cNvSpPr/>
          <p:nvPr/>
        </p:nvSpPr>
        <p:spPr>
          <a:xfrm>
            <a:off x="6210300" y="2209800"/>
            <a:ext cx="2647950" cy="746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27,6 M</a:t>
            </a:r>
            <a:endParaRPr lang="en-US"/>
          </a:p>
        </p:txBody>
      </p:sp>
      <p:sp>
        <p:nvSpPr>
          <p:cNvPr id="2220" name="Rectangle 2219">
            <a:extLst>
              <a:ext uri="{FF2B5EF4-FFF2-40B4-BE49-F238E27FC236}">
                <a16:creationId xmlns:a16="http://schemas.microsoft.com/office/drawing/2014/main" id="{FC249A2E-C410-AF1D-34CC-97241C08C38F}"/>
              </a:ext>
            </a:extLst>
          </p:cNvPr>
          <p:cNvSpPr/>
          <p:nvPr/>
        </p:nvSpPr>
        <p:spPr>
          <a:xfrm>
            <a:off x="6210300" y="3048000"/>
            <a:ext cx="264795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A2633"/>
                </a:solidFill>
                <a:effectLst/>
                <a:latin typeface="Calibri" panose="020F0502020204030204" pitchFamily="34" charset="0"/>
              </a:rPr>
              <a:t>Socios únicos de los clubes</a:t>
            </a:r>
            <a:endParaRPr lang="en-US"/>
          </a:p>
        </p:txBody>
      </p:sp>
      <p:sp>
        <p:nvSpPr>
          <p:cNvPr id="2229" name="Rectangle 2228">
            <a:extLst>
              <a:ext uri="{FF2B5EF4-FFF2-40B4-BE49-F238E27FC236}">
                <a16:creationId xmlns:a16="http://schemas.microsoft.com/office/drawing/2014/main" id="{E66B06FA-04FA-7807-4EAA-BB78E43335BA}"/>
              </a:ext>
            </a:extLst>
          </p:cNvPr>
          <p:cNvSpPr/>
          <p:nvPr/>
        </p:nvSpPr>
        <p:spPr>
          <a:xfrm>
            <a:off x="9086850" y="2209800"/>
            <a:ext cx="2647950" cy="746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1.467 M€</a:t>
            </a:r>
            <a:endParaRPr lang="en-US"/>
          </a:p>
        </p:txBody>
      </p:sp>
      <p:sp>
        <p:nvSpPr>
          <p:cNvPr id="2239" name="Rectangle 2238">
            <a:extLst>
              <a:ext uri="{FF2B5EF4-FFF2-40B4-BE49-F238E27FC236}">
                <a16:creationId xmlns:a16="http://schemas.microsoft.com/office/drawing/2014/main" id="{57B043C5-6457-DD17-BFD4-D646C386C7DE}"/>
              </a:ext>
            </a:extLst>
          </p:cNvPr>
          <p:cNvSpPr/>
          <p:nvPr/>
        </p:nvSpPr>
        <p:spPr>
          <a:xfrm>
            <a:off x="9086850" y="3048000"/>
            <a:ext cx="264795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A2633"/>
                </a:solidFill>
                <a:effectLst/>
                <a:latin typeface="Calibri" panose="020F0502020204030204" pitchFamily="34" charset="0"/>
              </a:rPr>
              <a:t>Ingresos del último ejercicio</a:t>
            </a:r>
            <a:endParaRPr lang="en-US"/>
          </a:p>
        </p:txBody>
      </p:sp>
      <p:sp>
        <p:nvSpPr>
          <p:cNvPr id="2250" name="Rectangle 2249">
            <a:extLst>
              <a:ext uri="{FF2B5EF4-FFF2-40B4-BE49-F238E27FC236}">
                <a16:creationId xmlns:a16="http://schemas.microsoft.com/office/drawing/2014/main" id="{71AB8B98-3676-77A6-4C38-899395D88B11}"/>
              </a:ext>
            </a:extLst>
          </p:cNvPr>
          <p:cNvSpPr/>
          <p:nvPr/>
        </p:nvSpPr>
        <p:spPr>
          <a:xfrm>
            <a:off x="457200" y="3886200"/>
            <a:ext cx="11277600" cy="140208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2" name="Rectangle 2261">
            <a:extLst>
              <a:ext uri="{FF2B5EF4-FFF2-40B4-BE49-F238E27FC236}">
                <a16:creationId xmlns:a16="http://schemas.microsoft.com/office/drawing/2014/main" id="{34D0AF5D-0340-B6F5-34C2-5F8607A52828}"/>
              </a:ext>
            </a:extLst>
          </p:cNvPr>
          <p:cNvSpPr/>
          <p:nvPr/>
        </p:nvSpPr>
        <p:spPr>
          <a:xfrm>
            <a:off x="640080" y="4069080"/>
            <a:ext cx="109118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Las doce marcas, cuatro segmentos de cliente</a:t>
            </a:r>
            <a:endParaRPr lang="en-US"/>
          </a:p>
        </p:txBody>
      </p:sp>
      <p:sp>
        <p:nvSpPr>
          <p:cNvPr id="2275" name="Rectangle 2274">
            <a:extLst>
              <a:ext uri="{FF2B5EF4-FFF2-40B4-BE49-F238E27FC236}">
                <a16:creationId xmlns:a16="http://schemas.microsoft.com/office/drawing/2014/main" id="{5B6B779A-9BD3-4D30-EDF5-DEAD5704B0A0}"/>
              </a:ext>
            </a:extLst>
          </p:cNvPr>
          <p:cNvSpPr/>
          <p:nvPr/>
        </p:nvSpPr>
        <p:spPr>
          <a:xfrm>
            <a:off x="640080" y="4541520"/>
            <a:ext cx="109118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Women'secret · Springfield · Cortefiel · Pedro del Hierro · Hoss Intropia · Slowlove · High Spirits · Dash and Stars · OOTO · HI&amp;BYE · Springfield Kids · Fifty</a:t>
            </a:r>
            <a:endParaRPr lang="en-US"/>
          </a:p>
        </p:txBody>
      </p:sp>
      <p:sp>
        <p:nvSpPr>
          <p:cNvPr id="2289" name="Rectangle 2288">
            <a:extLst>
              <a:ext uri="{FF2B5EF4-FFF2-40B4-BE49-F238E27FC236}">
                <a16:creationId xmlns:a16="http://schemas.microsoft.com/office/drawing/2014/main" id="{807E5A99-6AF9-6D25-EB62-A6AC25CC2109}"/>
              </a:ext>
            </a:extLst>
          </p:cNvPr>
          <p:cNvSpPr/>
          <p:nvPr/>
        </p:nvSpPr>
        <p:spPr>
          <a:xfrm>
            <a:off x="457200" y="5562600"/>
            <a:ext cx="11277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Un solo desarrollo se despliega sobre doce catálogos. Ese es el argumento económico del caso.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10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Rectangle 2303">
            <a:extLst>
              <a:ext uri="{FF2B5EF4-FFF2-40B4-BE49-F238E27FC236}">
                <a16:creationId xmlns:a16="http://schemas.microsoft.com/office/drawing/2014/main" id="{62274CD1-CF05-6B53-FDDA-8348605838A0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GRUPO TENDAM · VERTICALES EN DETALLE</a:t>
            </a:r>
            <a:endParaRPr lang="en-US"/>
          </a:p>
        </p:txBody>
      </p:sp>
      <p:sp>
        <p:nvSpPr>
          <p:cNvPr id="2320" name="Rectangle 2319">
            <a:extLst>
              <a:ext uri="{FF2B5EF4-FFF2-40B4-BE49-F238E27FC236}">
                <a16:creationId xmlns:a16="http://schemas.microsoft.com/office/drawing/2014/main" id="{1E444D1B-B014-1DBA-308C-29F2B33C0B16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Tendam agrupa sus doce marcas en cuatro segmentos y una plataforma multimarca</a:t>
            </a:r>
            <a:endParaRPr lang="en-US"/>
          </a:p>
        </p:txBody>
      </p:sp>
      <p:sp>
        <p:nvSpPr>
          <p:cNvPr id="2337" name="Rectangle 2336">
            <a:extLst>
              <a:ext uri="{FF2B5EF4-FFF2-40B4-BE49-F238E27FC236}">
                <a16:creationId xmlns:a16="http://schemas.microsoft.com/office/drawing/2014/main" id="{04930423-CAB6-DF65-5A25-A2B0C7D49CB5}"/>
              </a:ext>
            </a:extLst>
          </p:cNvPr>
          <p:cNvSpPr/>
          <p:nvPr/>
        </p:nvSpPr>
        <p:spPr>
          <a:xfrm>
            <a:off x="4572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5" name="Rectangle 2354">
            <a:extLst>
              <a:ext uri="{FF2B5EF4-FFF2-40B4-BE49-F238E27FC236}">
                <a16:creationId xmlns:a16="http://schemas.microsoft.com/office/drawing/2014/main" id="{F7C05323-34C9-32A0-3CF2-E213BA87D0BB}"/>
              </a:ext>
            </a:extLst>
          </p:cNvPr>
          <p:cNvSpPr/>
          <p:nvPr/>
        </p:nvSpPr>
        <p:spPr>
          <a:xfrm>
            <a:off x="42926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4" name="Rectangle 2373">
            <a:extLst>
              <a:ext uri="{FF2B5EF4-FFF2-40B4-BE49-F238E27FC236}">
                <a16:creationId xmlns:a16="http://schemas.microsoft.com/office/drawing/2014/main" id="{59E027AF-FB3F-5DD4-580D-A708A67FB388}"/>
              </a:ext>
            </a:extLst>
          </p:cNvPr>
          <p:cNvSpPr/>
          <p:nvPr/>
        </p:nvSpPr>
        <p:spPr>
          <a:xfrm>
            <a:off x="81280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4" name="Rectangle 2393">
            <a:extLst>
              <a:ext uri="{FF2B5EF4-FFF2-40B4-BE49-F238E27FC236}">
                <a16:creationId xmlns:a16="http://schemas.microsoft.com/office/drawing/2014/main" id="{FD2F10CE-F8C6-D278-F9A8-BA402EE3A548}"/>
              </a:ext>
            </a:extLst>
          </p:cNvPr>
          <p:cNvSpPr/>
          <p:nvPr/>
        </p:nvSpPr>
        <p:spPr>
          <a:xfrm>
            <a:off x="4572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5" name="Rectangle 2414">
            <a:extLst>
              <a:ext uri="{FF2B5EF4-FFF2-40B4-BE49-F238E27FC236}">
                <a16:creationId xmlns:a16="http://schemas.microsoft.com/office/drawing/2014/main" id="{72EB9971-5E7B-F52F-2040-8DE73448704B}"/>
              </a:ext>
            </a:extLst>
          </p:cNvPr>
          <p:cNvSpPr/>
          <p:nvPr/>
        </p:nvSpPr>
        <p:spPr>
          <a:xfrm>
            <a:off x="42926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7" name="Rectangle 2436">
            <a:extLst>
              <a:ext uri="{FF2B5EF4-FFF2-40B4-BE49-F238E27FC236}">
                <a16:creationId xmlns:a16="http://schemas.microsoft.com/office/drawing/2014/main" id="{C1FC823F-1AE6-54B0-B1E1-2B264051093A}"/>
              </a:ext>
            </a:extLst>
          </p:cNvPr>
          <p:cNvSpPr/>
          <p:nvPr/>
        </p:nvSpPr>
        <p:spPr>
          <a:xfrm>
            <a:off x="81280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0" name="Rectangle 2459">
            <a:extLst>
              <a:ext uri="{FF2B5EF4-FFF2-40B4-BE49-F238E27FC236}">
                <a16:creationId xmlns:a16="http://schemas.microsoft.com/office/drawing/2014/main" id="{7BE06890-BCE7-D690-9C11-A9525CBEFDFE}"/>
              </a:ext>
            </a:extLst>
          </p:cNvPr>
          <p:cNvSpPr/>
          <p:nvPr/>
        </p:nvSpPr>
        <p:spPr>
          <a:xfrm>
            <a:off x="6400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Segmento joven</a:t>
            </a:r>
            <a:endParaRPr lang="en-US"/>
          </a:p>
        </p:txBody>
      </p:sp>
      <p:sp>
        <p:nvSpPr>
          <p:cNvPr id="2484" name="Rectangle 2483">
            <a:extLst>
              <a:ext uri="{FF2B5EF4-FFF2-40B4-BE49-F238E27FC236}">
                <a16:creationId xmlns:a16="http://schemas.microsoft.com/office/drawing/2014/main" id="{02D1EC37-5F19-09DA-134A-50DF56A4F33E}"/>
              </a:ext>
            </a:extLst>
          </p:cNvPr>
          <p:cNvSpPr/>
          <p:nvPr/>
        </p:nvSpPr>
        <p:spPr>
          <a:xfrm>
            <a:off x="6400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Springfield, High Spirits y Springfield Kids: 495,0 M€.</a:t>
            </a:r>
            <a:endParaRPr lang="en-US"/>
          </a:p>
        </p:txBody>
      </p:sp>
      <p:sp>
        <p:nvSpPr>
          <p:cNvPr id="2509" name="Rectangle 2508">
            <a:extLst>
              <a:ext uri="{FF2B5EF4-FFF2-40B4-BE49-F238E27FC236}">
                <a16:creationId xmlns:a16="http://schemas.microsoft.com/office/drawing/2014/main" id="{D4F40160-6DBB-E072-B726-B2B93D621ED7}"/>
              </a:ext>
            </a:extLst>
          </p:cNvPr>
          <p:cNvSpPr/>
          <p:nvPr/>
        </p:nvSpPr>
        <p:spPr>
          <a:xfrm>
            <a:off x="44754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Segmento especialista</a:t>
            </a:r>
            <a:endParaRPr lang="en-US"/>
          </a:p>
        </p:txBody>
      </p:sp>
      <p:sp>
        <p:nvSpPr>
          <p:cNvPr id="2535" name="Rectangle 2534">
            <a:extLst>
              <a:ext uri="{FF2B5EF4-FFF2-40B4-BE49-F238E27FC236}">
                <a16:creationId xmlns:a16="http://schemas.microsoft.com/office/drawing/2014/main" id="{9BD31409-0F8B-49DE-F844-FC024460A24E}"/>
              </a:ext>
            </a:extLst>
          </p:cNvPr>
          <p:cNvSpPr/>
          <p:nvPr/>
        </p:nvSpPr>
        <p:spPr>
          <a:xfrm>
            <a:off x="44754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Women'secret, Dash and Stars y HI&amp;BYE: 466,8 M€.</a:t>
            </a:r>
            <a:endParaRPr lang="en-US"/>
          </a:p>
        </p:txBody>
      </p:sp>
      <p:sp>
        <p:nvSpPr>
          <p:cNvPr id="2562" name="Rectangle 2561">
            <a:extLst>
              <a:ext uri="{FF2B5EF4-FFF2-40B4-BE49-F238E27FC236}">
                <a16:creationId xmlns:a16="http://schemas.microsoft.com/office/drawing/2014/main" id="{7B04BAA7-17E0-2E76-30C4-98AA40B7ECE1}"/>
              </a:ext>
            </a:extLst>
          </p:cNvPr>
          <p:cNvSpPr/>
          <p:nvPr/>
        </p:nvSpPr>
        <p:spPr>
          <a:xfrm>
            <a:off x="83108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Segmento adulto</a:t>
            </a:r>
            <a:endParaRPr lang="en-US"/>
          </a:p>
        </p:txBody>
      </p:sp>
      <p:sp>
        <p:nvSpPr>
          <p:cNvPr id="2590" name="Rectangle 2589">
            <a:extLst>
              <a:ext uri="{FF2B5EF4-FFF2-40B4-BE49-F238E27FC236}">
                <a16:creationId xmlns:a16="http://schemas.microsoft.com/office/drawing/2014/main" id="{8AC684E4-E706-1C69-AF65-AC95A95D6305}"/>
              </a:ext>
            </a:extLst>
          </p:cNvPr>
          <p:cNvSpPr/>
          <p:nvPr/>
        </p:nvSpPr>
        <p:spPr>
          <a:xfrm>
            <a:off x="83108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Cortefiel, Pedro del Hierro, Hoss Intropia, Slowlove y OOTO: 394,6 M€.</a:t>
            </a:r>
            <a:endParaRPr lang="en-US"/>
          </a:p>
        </p:txBody>
      </p:sp>
      <p:sp>
        <p:nvSpPr>
          <p:cNvPr id="2619" name="Rectangle 2618">
            <a:extLst>
              <a:ext uri="{FF2B5EF4-FFF2-40B4-BE49-F238E27FC236}">
                <a16:creationId xmlns:a16="http://schemas.microsoft.com/office/drawing/2014/main" id="{04E2E3C2-4619-1193-29F8-7984B2ADFE48}"/>
              </a:ext>
            </a:extLst>
          </p:cNvPr>
          <p:cNvSpPr/>
          <p:nvPr/>
        </p:nvSpPr>
        <p:spPr>
          <a:xfrm>
            <a:off x="6400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Outlet</a:t>
            </a:r>
            <a:endParaRPr lang="en-US"/>
          </a:p>
        </p:txBody>
      </p:sp>
      <p:sp>
        <p:nvSpPr>
          <p:cNvPr id="2649" name="Rectangle 2648">
            <a:extLst>
              <a:ext uri="{FF2B5EF4-FFF2-40B4-BE49-F238E27FC236}">
                <a16:creationId xmlns:a16="http://schemas.microsoft.com/office/drawing/2014/main" id="{855B1987-61D8-CB0A-3F2A-7B4944D58E12}"/>
              </a:ext>
            </a:extLst>
          </p:cNvPr>
          <p:cNvSpPr/>
          <p:nvPr/>
        </p:nvSpPr>
        <p:spPr>
          <a:xfrm>
            <a:off x="6400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Fifty y la marca propia Milano: 111,0 M€ de venta.</a:t>
            </a:r>
            <a:endParaRPr lang="en-US"/>
          </a:p>
        </p:txBody>
      </p:sp>
      <p:sp>
        <p:nvSpPr>
          <p:cNvPr id="2680" name="Rectangle 2679">
            <a:extLst>
              <a:ext uri="{FF2B5EF4-FFF2-40B4-BE49-F238E27FC236}">
                <a16:creationId xmlns:a16="http://schemas.microsoft.com/office/drawing/2014/main" id="{A9AA7872-4B28-0A0A-CC98-20F10521D2BD}"/>
              </a:ext>
            </a:extLst>
          </p:cNvPr>
          <p:cNvSpPr/>
          <p:nvPr/>
        </p:nvSpPr>
        <p:spPr>
          <a:xfrm>
            <a:off x="44754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Plataforma multimarca</a:t>
            </a:r>
            <a:endParaRPr lang="en-US"/>
          </a:p>
        </p:txBody>
      </p:sp>
      <p:sp>
        <p:nvSpPr>
          <p:cNvPr id="2712" name="Rectangle 2711">
            <a:extLst>
              <a:ext uri="{FF2B5EF4-FFF2-40B4-BE49-F238E27FC236}">
                <a16:creationId xmlns:a16="http://schemas.microsoft.com/office/drawing/2014/main" id="{F055EEE0-7E67-FB5D-92CD-9640BE599F45}"/>
              </a:ext>
            </a:extLst>
          </p:cNvPr>
          <p:cNvSpPr/>
          <p:nvPr/>
        </p:nvSpPr>
        <p:spPr>
          <a:xfrm>
            <a:off x="44754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211 marcas de terceros conviviendo con las doce propias.</a:t>
            </a:r>
            <a:endParaRPr lang="en-US"/>
          </a:p>
        </p:txBody>
      </p:sp>
      <p:sp>
        <p:nvSpPr>
          <p:cNvPr id="2745" name="Rectangle 2744">
            <a:extLst>
              <a:ext uri="{FF2B5EF4-FFF2-40B4-BE49-F238E27FC236}">
                <a16:creationId xmlns:a16="http://schemas.microsoft.com/office/drawing/2014/main" id="{7656E1B3-BB5B-438A-218D-CB9BCB9E392D}"/>
              </a:ext>
            </a:extLst>
          </p:cNvPr>
          <p:cNvSpPr/>
          <p:nvPr/>
        </p:nvSpPr>
        <p:spPr>
          <a:xfrm>
            <a:off x="83108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Clubes de fidelidad</a:t>
            </a:r>
            <a:endParaRPr lang="en-US"/>
          </a:p>
        </p:txBody>
      </p:sp>
      <p:sp>
        <p:nvSpPr>
          <p:cNvPr id="2779" name="Rectangle 2778">
            <a:extLst>
              <a:ext uri="{FF2B5EF4-FFF2-40B4-BE49-F238E27FC236}">
                <a16:creationId xmlns:a16="http://schemas.microsoft.com/office/drawing/2014/main" id="{47A00085-1DEB-4164-D346-A877E34FE2E1}"/>
              </a:ext>
            </a:extLst>
          </p:cNvPr>
          <p:cNvSpPr/>
          <p:nvPr/>
        </p:nvSpPr>
        <p:spPr>
          <a:xfrm>
            <a:off x="83108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27,6 millones de socios que generan el 75% de las ventas.</a:t>
            </a:r>
            <a:endParaRPr lang="en-US"/>
          </a:p>
        </p:txBody>
      </p:sp>
      <p:sp>
        <p:nvSpPr>
          <p:cNvPr id="2814" name="Rectangle 2813">
            <a:extLst>
              <a:ext uri="{FF2B5EF4-FFF2-40B4-BE49-F238E27FC236}">
                <a16:creationId xmlns:a16="http://schemas.microsoft.com/office/drawing/2014/main" id="{3AF1B70F-41D0-8EDC-A7DC-28731F5D9710}"/>
              </a:ext>
            </a:extLst>
          </p:cNvPr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El club es la vertical transversal: identifica al comprador en cualquiera de las doce marcas.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56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5" name="Rectangle 2814">
            <a:extLst>
              <a:ext uri="{FF2B5EF4-FFF2-40B4-BE49-F238E27FC236}">
                <a16:creationId xmlns:a16="http://schemas.microsoft.com/office/drawing/2014/main" id="{A0A66E60-E411-6C6E-72E8-AA85E8BFFB4F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MERCADONA · VERTICALES</a:t>
            </a:r>
            <a:endParaRPr lang="en-US"/>
          </a:p>
        </p:txBody>
      </p:sp>
      <p:sp>
        <p:nvSpPr>
          <p:cNvPr id="2817" name="Rectangle 2816">
            <a:extLst>
              <a:ext uri="{FF2B5EF4-FFF2-40B4-BE49-F238E27FC236}">
                <a16:creationId xmlns:a16="http://schemas.microsoft.com/office/drawing/2014/main" id="{5EC82A8C-BB67-167D-010A-AD95CB51D081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Mercadona está reorganizando la tienda entera: más fresco, más preparado y menos mostrador</a:t>
            </a:r>
            <a:endParaRPr lang="en-US"/>
          </a:p>
        </p:txBody>
      </p:sp>
      <p:sp>
        <p:nvSpPr>
          <p:cNvPr id="2820" name="Rectangle 2819">
            <a:extLst>
              <a:ext uri="{FF2B5EF4-FFF2-40B4-BE49-F238E27FC236}">
                <a16:creationId xmlns:a16="http://schemas.microsoft.com/office/drawing/2014/main" id="{D08AF1E9-1902-B888-A4E2-10BE11BE917C}"/>
              </a:ext>
            </a:extLst>
          </p:cNvPr>
          <p:cNvSpPr/>
          <p:nvPr/>
        </p:nvSpPr>
        <p:spPr>
          <a:xfrm>
            <a:off x="457200" y="2209800"/>
            <a:ext cx="3606800" cy="204216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4" name="Rectangle 2823">
            <a:extLst>
              <a:ext uri="{FF2B5EF4-FFF2-40B4-BE49-F238E27FC236}">
                <a16:creationId xmlns:a16="http://schemas.microsoft.com/office/drawing/2014/main" id="{87EB6571-049F-6B4F-4807-C684DAF06175}"/>
              </a:ext>
            </a:extLst>
          </p:cNvPr>
          <p:cNvSpPr/>
          <p:nvPr/>
        </p:nvSpPr>
        <p:spPr>
          <a:xfrm>
            <a:off x="4292600" y="2209800"/>
            <a:ext cx="3606800" cy="204216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9" name="Rectangle 2828">
            <a:extLst>
              <a:ext uri="{FF2B5EF4-FFF2-40B4-BE49-F238E27FC236}">
                <a16:creationId xmlns:a16="http://schemas.microsoft.com/office/drawing/2014/main" id="{972EAF4A-9F64-56F9-D5F3-AADAB6BD8709}"/>
              </a:ext>
            </a:extLst>
          </p:cNvPr>
          <p:cNvSpPr/>
          <p:nvPr/>
        </p:nvSpPr>
        <p:spPr>
          <a:xfrm>
            <a:off x="8128000" y="2209800"/>
            <a:ext cx="3606800" cy="204216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5" name="Rectangle 2834">
            <a:extLst>
              <a:ext uri="{FF2B5EF4-FFF2-40B4-BE49-F238E27FC236}">
                <a16:creationId xmlns:a16="http://schemas.microsoft.com/office/drawing/2014/main" id="{D0F571CF-5D2E-B2C1-FC9A-527A7E401215}"/>
              </a:ext>
            </a:extLst>
          </p:cNvPr>
          <p:cNvSpPr/>
          <p:nvPr/>
        </p:nvSpPr>
        <p:spPr>
          <a:xfrm>
            <a:off x="6400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Tienda 9</a:t>
            </a:r>
            <a:endParaRPr lang="en-US"/>
          </a:p>
        </p:txBody>
      </p:sp>
      <p:sp>
        <p:nvSpPr>
          <p:cNvPr id="2842" name="Rectangle 2841">
            <a:extLst>
              <a:ext uri="{FF2B5EF4-FFF2-40B4-BE49-F238E27FC236}">
                <a16:creationId xmlns:a16="http://schemas.microsoft.com/office/drawing/2014/main" id="{62F69CC8-4DE5-8C15-C3DE-D21844277877}"/>
              </a:ext>
            </a:extLst>
          </p:cNvPr>
          <p:cNvSpPr/>
          <p:nvPr/>
        </p:nvSpPr>
        <p:spPr>
          <a:xfrm>
            <a:off x="640080" y="2865120"/>
            <a:ext cx="3241040" cy="1203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El nuevo formato da más espacio a frescos y preparados, y retira la atención personalizada en carne y pescado.</a:t>
            </a:r>
            <a:endParaRPr lang="en-US"/>
          </a:p>
        </p:txBody>
      </p:sp>
      <p:sp>
        <p:nvSpPr>
          <p:cNvPr id="2850" name="Rectangle 2849">
            <a:extLst>
              <a:ext uri="{FF2B5EF4-FFF2-40B4-BE49-F238E27FC236}">
                <a16:creationId xmlns:a16="http://schemas.microsoft.com/office/drawing/2014/main" id="{5ADC393A-E051-8E97-2EE4-52D03340ED07}"/>
              </a:ext>
            </a:extLst>
          </p:cNvPr>
          <p:cNvSpPr/>
          <p:nvPr/>
        </p:nvSpPr>
        <p:spPr>
          <a:xfrm>
            <a:off x="44754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Listo para Comer</a:t>
            </a:r>
            <a:endParaRPr lang="en-US"/>
          </a:p>
        </p:txBody>
      </p:sp>
      <p:sp>
        <p:nvSpPr>
          <p:cNvPr id="2859" name="Rectangle 2858">
            <a:extLst>
              <a:ext uri="{FF2B5EF4-FFF2-40B4-BE49-F238E27FC236}">
                <a16:creationId xmlns:a16="http://schemas.microsoft.com/office/drawing/2014/main" id="{8EDA5CD1-8B2D-4732-BD30-751DBDBA5B56}"/>
              </a:ext>
            </a:extLst>
          </p:cNvPr>
          <p:cNvSpPr/>
          <p:nvPr/>
        </p:nvSpPr>
        <p:spPr>
          <a:xfrm>
            <a:off x="4475480" y="2865120"/>
            <a:ext cx="3241040" cy="1203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La comida preparada ronda los 3.000 millones de euros y crece cerca de un veinte por ciento anual.</a:t>
            </a:r>
            <a:endParaRPr lang="en-US"/>
          </a:p>
        </p:txBody>
      </p:sp>
      <p:sp>
        <p:nvSpPr>
          <p:cNvPr id="2869" name="Rectangle 2868">
            <a:extLst>
              <a:ext uri="{FF2B5EF4-FFF2-40B4-BE49-F238E27FC236}">
                <a16:creationId xmlns:a16="http://schemas.microsoft.com/office/drawing/2014/main" id="{3981C875-1C53-F4E8-9D37-8C8B1483D374}"/>
              </a:ext>
            </a:extLst>
          </p:cNvPr>
          <p:cNvSpPr/>
          <p:nvPr/>
        </p:nvSpPr>
        <p:spPr>
          <a:xfrm>
            <a:off x="83108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Online y colmenas</a:t>
            </a:r>
            <a:endParaRPr lang="en-US"/>
          </a:p>
        </p:txBody>
      </p:sp>
      <p:sp>
        <p:nvSpPr>
          <p:cNvPr id="2880" name="Rectangle 2879">
            <a:extLst>
              <a:ext uri="{FF2B5EF4-FFF2-40B4-BE49-F238E27FC236}">
                <a16:creationId xmlns:a16="http://schemas.microsoft.com/office/drawing/2014/main" id="{63A672EB-534A-F4F6-1538-47EBE418E5D5}"/>
              </a:ext>
            </a:extLst>
          </p:cNvPr>
          <p:cNvSpPr/>
          <p:nvPr/>
        </p:nvSpPr>
        <p:spPr>
          <a:xfrm>
            <a:off x="8310880" y="2865120"/>
            <a:ext cx="3241040" cy="1203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Más de mil millones en venta digital, con siete colmenas logísticas y la de Vallecas semiautomatizada.</a:t>
            </a:r>
            <a:endParaRPr lang="en-US"/>
          </a:p>
        </p:txBody>
      </p:sp>
      <p:sp>
        <p:nvSpPr>
          <p:cNvPr id="2892" name="Rectangle 2891">
            <a:extLst>
              <a:ext uri="{FF2B5EF4-FFF2-40B4-BE49-F238E27FC236}">
                <a16:creationId xmlns:a16="http://schemas.microsoft.com/office/drawing/2014/main" id="{CA61B697-327E-1F18-0CC5-94C2BDDBD801}"/>
              </a:ext>
            </a:extLst>
          </p:cNvPr>
          <p:cNvSpPr/>
          <p:nvPr/>
        </p:nvSpPr>
        <p:spPr>
          <a:xfrm>
            <a:off x="457200" y="4526280"/>
            <a:ext cx="11277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Si desaparece el dependiente del mostrador, la pregunta del cliente se queda sin destinatario.</a:t>
            </a:r>
            <a:endParaRPr lang="en-US"/>
          </a:p>
        </p:txBody>
      </p:sp>
      <p:sp>
        <p:nvSpPr>
          <p:cNvPr id="2905" name="Rectangle 2904">
            <a:extLst>
              <a:ext uri="{FF2B5EF4-FFF2-40B4-BE49-F238E27FC236}">
                <a16:creationId xmlns:a16="http://schemas.microsoft.com/office/drawing/2014/main" id="{2B18E1B0-A190-E5C4-BB21-47D25192181A}"/>
              </a:ext>
            </a:extLst>
          </p:cNvPr>
          <p:cNvSpPr/>
          <p:nvPr/>
        </p:nvSpPr>
        <p:spPr>
          <a:xfrm>
            <a:off x="457200" y="54864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A2633"/>
                </a:solidFill>
                <a:effectLst/>
                <a:latin typeface="Calibri" panose="020F0502020204030204" pitchFamily="34" charset="0"/>
              </a:rPr>
              <a:t>Fuente: presentación de resultados 2025 y plan de transformación de tienda de la compañía.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01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Rectangle 2918">
            <a:extLst>
              <a:ext uri="{FF2B5EF4-FFF2-40B4-BE49-F238E27FC236}">
                <a16:creationId xmlns:a16="http://schemas.microsoft.com/office/drawing/2014/main" id="{FB6F8D10-3B1A-6FE2-F0C7-0B6229194458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MERCADONA · VERTICALES EN DETALLE</a:t>
            </a:r>
            <a:endParaRPr lang="en-US"/>
          </a:p>
        </p:txBody>
      </p:sp>
      <p:sp>
        <p:nvSpPr>
          <p:cNvPr id="2934" name="Rectangle 2933">
            <a:extLst>
              <a:ext uri="{FF2B5EF4-FFF2-40B4-BE49-F238E27FC236}">
                <a16:creationId xmlns:a16="http://schemas.microsoft.com/office/drawing/2014/main" id="{55C5F40E-39E8-119F-4805-602608C0BD84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Mercadona combina secciones de tienda, obrador propio, canal online y su red logística</a:t>
            </a:r>
            <a:endParaRPr lang="en-US"/>
          </a:p>
        </p:txBody>
      </p:sp>
      <p:sp>
        <p:nvSpPr>
          <p:cNvPr id="2950" name="Rectangle 2949">
            <a:extLst>
              <a:ext uri="{FF2B5EF4-FFF2-40B4-BE49-F238E27FC236}">
                <a16:creationId xmlns:a16="http://schemas.microsoft.com/office/drawing/2014/main" id="{C7AB53D9-E109-A5EA-4A43-389B45232DD3}"/>
              </a:ext>
            </a:extLst>
          </p:cNvPr>
          <p:cNvSpPr/>
          <p:nvPr/>
        </p:nvSpPr>
        <p:spPr>
          <a:xfrm>
            <a:off x="4572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7" name="Rectangle 2966">
            <a:extLst>
              <a:ext uri="{FF2B5EF4-FFF2-40B4-BE49-F238E27FC236}">
                <a16:creationId xmlns:a16="http://schemas.microsoft.com/office/drawing/2014/main" id="{0BC31D5D-D61E-6FC0-B598-EDDCBDD4F4FD}"/>
              </a:ext>
            </a:extLst>
          </p:cNvPr>
          <p:cNvSpPr/>
          <p:nvPr/>
        </p:nvSpPr>
        <p:spPr>
          <a:xfrm>
            <a:off x="42926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5" name="Rectangle 2984">
            <a:extLst>
              <a:ext uri="{FF2B5EF4-FFF2-40B4-BE49-F238E27FC236}">
                <a16:creationId xmlns:a16="http://schemas.microsoft.com/office/drawing/2014/main" id="{36CDDAC0-7E55-041D-923B-5DD353E89FB9}"/>
              </a:ext>
            </a:extLst>
          </p:cNvPr>
          <p:cNvSpPr/>
          <p:nvPr/>
        </p:nvSpPr>
        <p:spPr>
          <a:xfrm>
            <a:off x="81280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4" name="Rectangle 3003">
            <a:extLst>
              <a:ext uri="{FF2B5EF4-FFF2-40B4-BE49-F238E27FC236}">
                <a16:creationId xmlns:a16="http://schemas.microsoft.com/office/drawing/2014/main" id="{8260A676-E7F0-3EDA-54F1-448A0056378E}"/>
              </a:ext>
            </a:extLst>
          </p:cNvPr>
          <p:cNvSpPr/>
          <p:nvPr/>
        </p:nvSpPr>
        <p:spPr>
          <a:xfrm>
            <a:off x="4572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4" name="Rectangle 3023">
            <a:extLst>
              <a:ext uri="{FF2B5EF4-FFF2-40B4-BE49-F238E27FC236}">
                <a16:creationId xmlns:a16="http://schemas.microsoft.com/office/drawing/2014/main" id="{55C2C896-4B3B-74B0-CAB0-51D7D225014B}"/>
              </a:ext>
            </a:extLst>
          </p:cNvPr>
          <p:cNvSpPr/>
          <p:nvPr/>
        </p:nvSpPr>
        <p:spPr>
          <a:xfrm>
            <a:off x="42926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5" name="Rectangle 3044">
            <a:extLst>
              <a:ext uri="{FF2B5EF4-FFF2-40B4-BE49-F238E27FC236}">
                <a16:creationId xmlns:a16="http://schemas.microsoft.com/office/drawing/2014/main" id="{7DB7A393-6742-CF48-8044-AA22EAD99D8A}"/>
              </a:ext>
            </a:extLst>
          </p:cNvPr>
          <p:cNvSpPr/>
          <p:nvPr/>
        </p:nvSpPr>
        <p:spPr>
          <a:xfrm>
            <a:off x="81280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7" name="Rectangle 3066">
            <a:extLst>
              <a:ext uri="{FF2B5EF4-FFF2-40B4-BE49-F238E27FC236}">
                <a16:creationId xmlns:a16="http://schemas.microsoft.com/office/drawing/2014/main" id="{9C06776B-F8C4-4105-C91E-CB8CD3AB5CBD}"/>
              </a:ext>
            </a:extLst>
          </p:cNvPr>
          <p:cNvSpPr/>
          <p:nvPr/>
        </p:nvSpPr>
        <p:spPr>
          <a:xfrm>
            <a:off x="6400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Frescos</a:t>
            </a:r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1445DF01-CD0A-9FCB-F81E-5505C27BE73C}"/>
              </a:ext>
            </a:extLst>
          </p:cNvPr>
          <p:cNvSpPr/>
          <p:nvPr/>
        </p:nvSpPr>
        <p:spPr>
          <a:xfrm>
            <a:off x="6400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Carne, pescado, frutería y panadería, cada vez más en bandeja.</a:t>
            </a:r>
            <a:endParaRPr lang="en-US"/>
          </a:p>
        </p:txBody>
      </p:sp>
      <p:sp>
        <p:nvSpPr>
          <p:cNvPr id="3114" name="Rectangle 3113">
            <a:extLst>
              <a:ext uri="{FF2B5EF4-FFF2-40B4-BE49-F238E27FC236}">
                <a16:creationId xmlns:a16="http://schemas.microsoft.com/office/drawing/2014/main" id="{1CA6DE97-3CE0-ACD6-B3EE-09C15CC795ED}"/>
              </a:ext>
            </a:extLst>
          </p:cNvPr>
          <p:cNvSpPr/>
          <p:nvPr/>
        </p:nvSpPr>
        <p:spPr>
          <a:xfrm>
            <a:off x="44754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Listo para Comer</a:t>
            </a:r>
            <a:endParaRPr lang="en-US"/>
          </a:p>
        </p:txBody>
      </p:sp>
      <p:sp>
        <p:nvSpPr>
          <p:cNvPr id="3139" name="Rectangle 3138">
            <a:extLst>
              <a:ext uri="{FF2B5EF4-FFF2-40B4-BE49-F238E27FC236}">
                <a16:creationId xmlns:a16="http://schemas.microsoft.com/office/drawing/2014/main" id="{981E31B1-3967-DCB4-19A1-E1BAB4EF3198}"/>
              </a:ext>
            </a:extLst>
          </p:cNvPr>
          <p:cNvSpPr/>
          <p:nvPr/>
        </p:nvSpPr>
        <p:spPr>
          <a:xfrm>
            <a:off x="44754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Comida preparada en unas 1.500 tiendas, cerca de 3.000 M€.</a:t>
            </a:r>
            <a:endParaRPr lang="en-US"/>
          </a:p>
        </p:txBody>
      </p:sp>
      <p:sp>
        <p:nvSpPr>
          <p:cNvPr id="3165" name="Rectangle 3164">
            <a:extLst>
              <a:ext uri="{FF2B5EF4-FFF2-40B4-BE49-F238E27FC236}">
                <a16:creationId xmlns:a16="http://schemas.microsoft.com/office/drawing/2014/main" id="{35D7157B-6DE8-DFA0-FA7B-714B7DFDA9FE}"/>
              </a:ext>
            </a:extLst>
          </p:cNvPr>
          <p:cNvSpPr/>
          <p:nvPr/>
        </p:nvSpPr>
        <p:spPr>
          <a:xfrm>
            <a:off x="83108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Obrador Central</a:t>
            </a:r>
            <a:endParaRPr lang="en-US"/>
          </a:p>
        </p:txBody>
      </p:sp>
      <p:sp>
        <p:nvSpPr>
          <p:cNvPr id="3192" name="Rectangle 3191">
            <a:extLst>
              <a:ext uri="{FF2B5EF4-FFF2-40B4-BE49-F238E27FC236}">
                <a16:creationId xmlns:a16="http://schemas.microsoft.com/office/drawing/2014/main" id="{1F48428B-D037-6674-3B7A-E2A7B588265C}"/>
              </a:ext>
            </a:extLst>
          </p:cNvPr>
          <p:cNvSpPr/>
          <p:nvPr/>
        </p:nvSpPr>
        <p:spPr>
          <a:xfrm>
            <a:off x="83108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Corte, cocción y envasado centralizados que alimentan la Tienda 9.</a:t>
            </a:r>
            <a:endParaRPr lang="en-US"/>
          </a:p>
        </p:txBody>
      </p:sp>
      <p:sp>
        <p:nvSpPr>
          <p:cNvPr id="3220" name="Rectangle 3219">
            <a:extLst>
              <a:ext uri="{FF2B5EF4-FFF2-40B4-BE49-F238E27FC236}">
                <a16:creationId xmlns:a16="http://schemas.microsoft.com/office/drawing/2014/main" id="{F67929F6-0FDF-375B-2C2E-94F44BEA5FE0}"/>
              </a:ext>
            </a:extLst>
          </p:cNvPr>
          <p:cNvSpPr/>
          <p:nvPr/>
        </p:nvSpPr>
        <p:spPr>
          <a:xfrm>
            <a:off x="6400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Seco y droguería</a:t>
            </a:r>
            <a:endParaRPr lang="en-US"/>
          </a:p>
        </p:txBody>
      </p:sp>
      <p:sp>
        <p:nvSpPr>
          <p:cNvPr id="3249" name="Rectangle 3248">
            <a:extLst>
              <a:ext uri="{FF2B5EF4-FFF2-40B4-BE49-F238E27FC236}">
                <a16:creationId xmlns:a16="http://schemas.microsoft.com/office/drawing/2014/main" id="{C712EE37-27CB-EBF4-10B9-AEA698BE9B7C}"/>
              </a:ext>
            </a:extLst>
          </p:cNvPr>
          <p:cNvSpPr/>
          <p:nvPr/>
        </p:nvSpPr>
        <p:spPr>
          <a:xfrm>
            <a:off x="6400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Alimentación envasada, perfumería, droguería y mascotas.</a:t>
            </a:r>
            <a:endParaRPr lang="en-US"/>
          </a:p>
        </p:txBody>
      </p:sp>
      <p:sp>
        <p:nvSpPr>
          <p:cNvPr id="3279" name="Rectangle 3278">
            <a:extLst>
              <a:ext uri="{FF2B5EF4-FFF2-40B4-BE49-F238E27FC236}">
                <a16:creationId xmlns:a16="http://schemas.microsoft.com/office/drawing/2014/main" id="{0955DB64-CB3D-EF44-B7E9-6FF938E9B943}"/>
              </a:ext>
            </a:extLst>
          </p:cNvPr>
          <p:cNvSpPr/>
          <p:nvPr/>
        </p:nvSpPr>
        <p:spPr>
          <a:xfrm>
            <a:off x="44754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Mercadona Online</a:t>
            </a:r>
            <a:endParaRPr lang="en-US"/>
          </a:p>
        </p:txBody>
      </p:sp>
      <p:sp>
        <p:nvSpPr>
          <p:cNvPr id="3310" name="Rectangle 3309">
            <a:extLst>
              <a:ext uri="{FF2B5EF4-FFF2-40B4-BE49-F238E27FC236}">
                <a16:creationId xmlns:a16="http://schemas.microsoft.com/office/drawing/2014/main" id="{BA030330-3545-AC31-53AC-B4DDEA21D67E}"/>
              </a:ext>
            </a:extLst>
          </p:cNvPr>
          <p:cNvSpPr/>
          <p:nvPr/>
        </p:nvSpPr>
        <p:spPr>
          <a:xfrm>
            <a:off x="44754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1.061 M€ de venta digital con siete colmenas logísticas.</a:t>
            </a:r>
            <a:endParaRPr lang="en-US"/>
          </a:p>
        </p:txBody>
      </p:sp>
      <p:sp>
        <p:nvSpPr>
          <p:cNvPr id="3342" name="Rectangle 3341">
            <a:extLst>
              <a:ext uri="{FF2B5EF4-FFF2-40B4-BE49-F238E27FC236}">
                <a16:creationId xmlns:a16="http://schemas.microsoft.com/office/drawing/2014/main" id="{F928370B-66C1-8B20-95F5-20B1CC85DCB3}"/>
              </a:ext>
            </a:extLst>
          </p:cNvPr>
          <p:cNvSpPr/>
          <p:nvPr/>
        </p:nvSpPr>
        <p:spPr>
          <a:xfrm>
            <a:off x="83108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Cadena de proveedores</a:t>
            </a:r>
            <a:endParaRPr lang="en-US"/>
          </a:p>
        </p:txBody>
      </p:sp>
      <p:sp>
        <p:nvSpPr>
          <p:cNvPr id="3375" name="Rectangle 3374">
            <a:extLst>
              <a:ext uri="{FF2B5EF4-FFF2-40B4-BE49-F238E27FC236}">
                <a16:creationId xmlns:a16="http://schemas.microsoft.com/office/drawing/2014/main" id="{5F191422-AC1A-B993-1EA0-87FD140A3308}"/>
              </a:ext>
            </a:extLst>
          </p:cNvPr>
          <p:cNvSpPr/>
          <p:nvPr/>
        </p:nvSpPr>
        <p:spPr>
          <a:xfrm>
            <a:off x="83108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Cerca de 2.000 proveedores y el 85% de las compras en la península.</a:t>
            </a:r>
            <a:endParaRPr lang="en-US"/>
          </a:p>
        </p:txBody>
      </p:sp>
      <p:sp>
        <p:nvSpPr>
          <p:cNvPr id="3409" name="Rectangle 3408">
            <a:extLst>
              <a:ext uri="{FF2B5EF4-FFF2-40B4-BE49-F238E27FC236}">
                <a16:creationId xmlns:a16="http://schemas.microsoft.com/office/drawing/2014/main" id="{956678C3-237F-E336-0BC7-DD8843BE96EC}"/>
              </a:ext>
            </a:extLst>
          </p:cNvPr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Cada sección que pierde mostrador es una sección que gana preguntas sin respuesta.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14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Rectangle 3409">
            <a:extLst>
              <a:ext uri="{FF2B5EF4-FFF2-40B4-BE49-F238E27FC236}">
                <a16:creationId xmlns:a16="http://schemas.microsoft.com/office/drawing/2014/main" id="{28EA6459-8A0D-83F5-5779-34389CCC8B45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IBEROSTAR · VERTICALES</a:t>
            </a:r>
            <a:endParaRPr lang="en-US"/>
          </a:p>
        </p:txBody>
      </p:sp>
      <p:sp>
        <p:nvSpPr>
          <p:cNvPr id="3412" name="Rectangle 3411">
            <a:extLst>
              <a:ext uri="{FF2B5EF4-FFF2-40B4-BE49-F238E27FC236}">
                <a16:creationId xmlns:a16="http://schemas.microsoft.com/office/drawing/2014/main" id="{956B0226-1350-D05F-CB21-BD76E27B80BA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Iberostar son dos negocios: un centenar de resorts y una división de viajes con diecisiete marcas</a:t>
            </a:r>
            <a:endParaRPr lang="en-US"/>
          </a:p>
        </p:txBody>
      </p:sp>
      <p:sp>
        <p:nvSpPr>
          <p:cNvPr id="3415" name="Rectangle 3414">
            <a:extLst>
              <a:ext uri="{FF2B5EF4-FFF2-40B4-BE49-F238E27FC236}">
                <a16:creationId xmlns:a16="http://schemas.microsoft.com/office/drawing/2014/main" id="{0A03A92B-3C86-F8EE-32D9-D42EB9C005C5}"/>
              </a:ext>
            </a:extLst>
          </p:cNvPr>
          <p:cNvSpPr/>
          <p:nvPr/>
        </p:nvSpPr>
        <p:spPr>
          <a:xfrm>
            <a:off x="457200" y="2209800"/>
            <a:ext cx="55245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9" name="Rectangle 3418">
            <a:extLst>
              <a:ext uri="{FF2B5EF4-FFF2-40B4-BE49-F238E27FC236}">
                <a16:creationId xmlns:a16="http://schemas.microsoft.com/office/drawing/2014/main" id="{D037C3E0-A18C-BBA7-5523-41788C9D68E1}"/>
              </a:ext>
            </a:extLst>
          </p:cNvPr>
          <p:cNvSpPr/>
          <p:nvPr/>
        </p:nvSpPr>
        <p:spPr>
          <a:xfrm>
            <a:off x="6210300" y="2209800"/>
            <a:ext cx="55245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4" name="Rectangle 3423">
            <a:extLst>
              <a:ext uri="{FF2B5EF4-FFF2-40B4-BE49-F238E27FC236}">
                <a16:creationId xmlns:a16="http://schemas.microsoft.com/office/drawing/2014/main" id="{9CA4C147-A997-23C1-DD7B-D798CE552650}"/>
              </a:ext>
            </a:extLst>
          </p:cNvPr>
          <p:cNvSpPr/>
          <p:nvPr/>
        </p:nvSpPr>
        <p:spPr>
          <a:xfrm>
            <a:off x="457200" y="3962400"/>
            <a:ext cx="55245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0" name="Rectangle 3429">
            <a:extLst>
              <a:ext uri="{FF2B5EF4-FFF2-40B4-BE49-F238E27FC236}">
                <a16:creationId xmlns:a16="http://schemas.microsoft.com/office/drawing/2014/main" id="{F4F7F7CC-DB10-84E9-9117-9020A0764F6E}"/>
              </a:ext>
            </a:extLst>
          </p:cNvPr>
          <p:cNvSpPr/>
          <p:nvPr/>
        </p:nvSpPr>
        <p:spPr>
          <a:xfrm>
            <a:off x="6210300" y="3962400"/>
            <a:ext cx="55245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7" name="Rectangle 3436">
            <a:extLst>
              <a:ext uri="{FF2B5EF4-FFF2-40B4-BE49-F238E27FC236}">
                <a16:creationId xmlns:a16="http://schemas.microsoft.com/office/drawing/2014/main" id="{7CABA4CE-BECF-0E99-B5AF-87EF98C08A7C}"/>
              </a:ext>
            </a:extLst>
          </p:cNvPr>
          <p:cNvSpPr/>
          <p:nvPr/>
        </p:nvSpPr>
        <p:spPr>
          <a:xfrm>
            <a:off x="640080" y="2392680"/>
            <a:ext cx="51587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Iberostar Waves</a:t>
            </a:r>
            <a:endParaRPr lang="en-US"/>
          </a:p>
        </p:txBody>
      </p:sp>
      <p:sp>
        <p:nvSpPr>
          <p:cNvPr id="3445" name="Rectangle 3444">
            <a:extLst>
              <a:ext uri="{FF2B5EF4-FFF2-40B4-BE49-F238E27FC236}">
                <a16:creationId xmlns:a16="http://schemas.microsoft.com/office/drawing/2014/main" id="{0582F967-A40E-CCBC-0570-D108449B9CDB}"/>
              </a:ext>
            </a:extLst>
          </p:cNvPr>
          <p:cNvSpPr/>
          <p:nvPr/>
        </p:nvSpPr>
        <p:spPr>
          <a:xfrm>
            <a:off x="640080" y="2865120"/>
            <a:ext cx="51587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Resorts frente al mar para familias y parejas activas, con mucha actividad, piscina y playa.</a:t>
            </a:r>
            <a:endParaRPr lang="en-US"/>
          </a:p>
        </p:txBody>
      </p:sp>
      <p:sp>
        <p:nvSpPr>
          <p:cNvPr id="3454" name="Rectangle 3453">
            <a:extLst>
              <a:ext uri="{FF2B5EF4-FFF2-40B4-BE49-F238E27FC236}">
                <a16:creationId xmlns:a16="http://schemas.microsoft.com/office/drawing/2014/main" id="{79DA224C-673E-8DDF-1E74-FBA9B6632B8D}"/>
              </a:ext>
            </a:extLst>
          </p:cNvPr>
          <p:cNvSpPr/>
          <p:nvPr/>
        </p:nvSpPr>
        <p:spPr>
          <a:xfrm>
            <a:off x="6393180" y="2392680"/>
            <a:ext cx="51587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Iberostar Selection</a:t>
            </a:r>
            <a:endParaRPr lang="en-US"/>
          </a:p>
        </p:txBody>
      </p:sp>
      <p:sp>
        <p:nvSpPr>
          <p:cNvPr id="3464" name="Rectangle 3463">
            <a:extLst>
              <a:ext uri="{FF2B5EF4-FFF2-40B4-BE49-F238E27FC236}">
                <a16:creationId xmlns:a16="http://schemas.microsoft.com/office/drawing/2014/main" id="{81124686-5447-9AB6-2FB9-CB8D83E21BEF}"/>
              </a:ext>
            </a:extLst>
          </p:cNvPr>
          <p:cNvSpPr/>
          <p:nvPr/>
        </p:nvSpPr>
        <p:spPr>
          <a:xfrm>
            <a:off x="6393180" y="2865120"/>
            <a:ext cx="51587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Segmento premium, habitaciones amplias y cocina diversa para familias y parejas.</a:t>
            </a:r>
            <a:endParaRPr lang="en-US"/>
          </a:p>
        </p:txBody>
      </p:sp>
      <p:sp>
        <p:nvSpPr>
          <p:cNvPr id="3475" name="Rectangle 3474">
            <a:extLst>
              <a:ext uri="{FF2B5EF4-FFF2-40B4-BE49-F238E27FC236}">
                <a16:creationId xmlns:a16="http://schemas.microsoft.com/office/drawing/2014/main" id="{455BE4C9-6A3C-BB4D-5118-9417415FED42}"/>
              </a:ext>
            </a:extLst>
          </p:cNvPr>
          <p:cNvSpPr/>
          <p:nvPr/>
        </p:nvSpPr>
        <p:spPr>
          <a:xfrm>
            <a:off x="640080" y="4145280"/>
            <a:ext cx="51587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JOIA by Iberostar</a:t>
            </a:r>
            <a:endParaRPr lang="en-US"/>
          </a:p>
        </p:txBody>
      </p:sp>
      <p:sp>
        <p:nvSpPr>
          <p:cNvPr id="3487" name="Rectangle 3486">
            <a:extLst>
              <a:ext uri="{FF2B5EF4-FFF2-40B4-BE49-F238E27FC236}">
                <a16:creationId xmlns:a16="http://schemas.microsoft.com/office/drawing/2014/main" id="{57E38EB0-382E-3E53-6F7F-6E33D2D8DD32}"/>
              </a:ext>
            </a:extLst>
          </p:cNvPr>
          <p:cNvSpPr/>
          <p:nvPr/>
        </p:nvSpPr>
        <p:spPr>
          <a:xfrm>
            <a:off x="640080" y="4617720"/>
            <a:ext cx="51587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Colección de cinco estrellas con servicio altamente personalizado en ubicaciones privilegiadas.</a:t>
            </a:r>
            <a:endParaRPr lang="en-US"/>
          </a:p>
        </p:txBody>
      </p:sp>
      <p:sp>
        <p:nvSpPr>
          <p:cNvPr id="3500" name="Rectangle 3499">
            <a:extLst>
              <a:ext uri="{FF2B5EF4-FFF2-40B4-BE49-F238E27FC236}">
                <a16:creationId xmlns:a16="http://schemas.microsoft.com/office/drawing/2014/main" id="{F9305775-56CF-B2CA-4FE1-DCF95FAA55C9}"/>
              </a:ext>
            </a:extLst>
          </p:cNvPr>
          <p:cNvSpPr/>
          <p:nvPr/>
        </p:nvSpPr>
        <p:spPr>
          <a:xfrm>
            <a:off x="6393180" y="4145280"/>
            <a:ext cx="51587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World2Meet</a:t>
            </a:r>
            <a:endParaRPr lang="en-US"/>
          </a:p>
        </p:txBody>
      </p:sp>
      <p:sp>
        <p:nvSpPr>
          <p:cNvPr id="3514" name="Rectangle 3513">
            <a:extLst>
              <a:ext uri="{FF2B5EF4-FFF2-40B4-BE49-F238E27FC236}">
                <a16:creationId xmlns:a16="http://schemas.microsoft.com/office/drawing/2014/main" id="{EB3A0A14-A468-47EC-14F6-40C87F92D877}"/>
              </a:ext>
            </a:extLst>
          </p:cNvPr>
          <p:cNvSpPr/>
          <p:nvPr/>
        </p:nvSpPr>
        <p:spPr>
          <a:xfrm>
            <a:off x="6393180" y="4617720"/>
            <a:ext cx="51587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La división de viajes: diecisiete marcas que cubren toda la cadena de valor turística.</a:t>
            </a:r>
            <a:endParaRPr lang="en-US"/>
          </a:p>
        </p:txBody>
      </p:sp>
      <p:sp>
        <p:nvSpPr>
          <p:cNvPr id="3529" name="Rectangle 3528">
            <a:extLst>
              <a:ext uri="{FF2B5EF4-FFF2-40B4-BE49-F238E27FC236}">
                <a16:creationId xmlns:a16="http://schemas.microsoft.com/office/drawing/2014/main" id="{041C6373-41D8-F7E4-0B75-0E985C2ABE10}"/>
              </a:ext>
            </a:extLst>
          </p:cNvPr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Un huésped de catorce países distintos, en su idioma, durante los días que dura su estancia.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10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5" name="Rectangle 3544">
            <a:extLst>
              <a:ext uri="{FF2B5EF4-FFF2-40B4-BE49-F238E27FC236}">
                <a16:creationId xmlns:a16="http://schemas.microsoft.com/office/drawing/2014/main" id="{B33E8115-9EDA-094C-CEBA-72CAA9AD47F0}"/>
              </a:ext>
            </a:extLst>
          </p:cNvPr>
          <p:cNvSpPr/>
          <p:nvPr/>
        </p:nvSpPr>
        <p:spPr>
          <a:xfrm>
            <a:off x="457200" y="4572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B8431F"/>
                </a:solidFill>
                <a:effectLst/>
                <a:latin typeface="Trebuchet MS" panose="020B0603020202020204" pitchFamily="34" charset="0"/>
              </a:rPr>
              <a:t>IBEROSTAR · VERTICALES EN DETALLE</a:t>
            </a:r>
            <a:endParaRPr lang="en-US"/>
          </a:p>
        </p:txBody>
      </p:sp>
      <p:sp>
        <p:nvSpPr>
          <p:cNvPr id="3562" name="Rectangle 3561">
            <a:extLst>
              <a:ext uri="{FF2B5EF4-FFF2-40B4-BE49-F238E27FC236}">
                <a16:creationId xmlns:a16="http://schemas.microsoft.com/office/drawing/2014/main" id="{A6A7C25E-EB8C-FD02-AB3C-99C8CB5525E6}"/>
              </a:ext>
            </a:extLst>
          </p:cNvPr>
          <p:cNvSpPr/>
          <p:nvPr/>
        </p:nvSpPr>
        <p:spPr>
          <a:xfrm>
            <a:off x="457200" y="944880"/>
            <a:ext cx="1127760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Iberostar suma tres segmentos hoteleros y las marcas verticales de World2Meet</a:t>
            </a:r>
            <a:endParaRPr lang="en-US"/>
          </a:p>
        </p:txBody>
      </p:sp>
      <p:sp>
        <p:nvSpPr>
          <p:cNvPr id="3580" name="Rectangle 3579">
            <a:extLst>
              <a:ext uri="{FF2B5EF4-FFF2-40B4-BE49-F238E27FC236}">
                <a16:creationId xmlns:a16="http://schemas.microsoft.com/office/drawing/2014/main" id="{F06E475D-179A-72B3-E0FE-EC777D4A70FB}"/>
              </a:ext>
            </a:extLst>
          </p:cNvPr>
          <p:cNvSpPr/>
          <p:nvPr/>
        </p:nvSpPr>
        <p:spPr>
          <a:xfrm>
            <a:off x="4572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9" name="Rectangle 3598">
            <a:extLst>
              <a:ext uri="{FF2B5EF4-FFF2-40B4-BE49-F238E27FC236}">
                <a16:creationId xmlns:a16="http://schemas.microsoft.com/office/drawing/2014/main" id="{00DF474C-7416-E993-524D-DED6422E76B3}"/>
              </a:ext>
            </a:extLst>
          </p:cNvPr>
          <p:cNvSpPr/>
          <p:nvPr/>
        </p:nvSpPr>
        <p:spPr>
          <a:xfrm>
            <a:off x="42926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9" name="Rectangle 3618">
            <a:extLst>
              <a:ext uri="{FF2B5EF4-FFF2-40B4-BE49-F238E27FC236}">
                <a16:creationId xmlns:a16="http://schemas.microsoft.com/office/drawing/2014/main" id="{07F459A9-81F3-6B0B-E493-0CAF8D3D2A23}"/>
              </a:ext>
            </a:extLst>
          </p:cNvPr>
          <p:cNvSpPr/>
          <p:nvPr/>
        </p:nvSpPr>
        <p:spPr>
          <a:xfrm>
            <a:off x="8128000" y="22098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0" name="Rectangle 3639">
            <a:extLst>
              <a:ext uri="{FF2B5EF4-FFF2-40B4-BE49-F238E27FC236}">
                <a16:creationId xmlns:a16="http://schemas.microsoft.com/office/drawing/2014/main" id="{CCB750BD-C5F1-E720-B360-6541F07E041A}"/>
              </a:ext>
            </a:extLst>
          </p:cNvPr>
          <p:cNvSpPr/>
          <p:nvPr/>
        </p:nvSpPr>
        <p:spPr>
          <a:xfrm>
            <a:off x="4572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2" name="Rectangle 3661">
            <a:extLst>
              <a:ext uri="{FF2B5EF4-FFF2-40B4-BE49-F238E27FC236}">
                <a16:creationId xmlns:a16="http://schemas.microsoft.com/office/drawing/2014/main" id="{B8CB01E8-AF6E-AE32-5E99-D898FC4E9EF4}"/>
              </a:ext>
            </a:extLst>
          </p:cNvPr>
          <p:cNvSpPr/>
          <p:nvPr/>
        </p:nvSpPr>
        <p:spPr>
          <a:xfrm>
            <a:off x="42926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5" name="Rectangle 3684">
            <a:extLst>
              <a:ext uri="{FF2B5EF4-FFF2-40B4-BE49-F238E27FC236}">
                <a16:creationId xmlns:a16="http://schemas.microsoft.com/office/drawing/2014/main" id="{8BD7342D-619E-DC15-5EED-EFD1C937469A}"/>
              </a:ext>
            </a:extLst>
          </p:cNvPr>
          <p:cNvSpPr/>
          <p:nvPr/>
        </p:nvSpPr>
        <p:spPr>
          <a:xfrm>
            <a:off x="8128000" y="3962400"/>
            <a:ext cx="3606800" cy="1615440"/>
          </a:xfrm>
          <a:prstGeom prst="rect">
            <a:avLst/>
          </a:prstGeom>
          <a:solidFill>
            <a:srgbClr val="123B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9" name="Rectangle 3708">
            <a:extLst>
              <a:ext uri="{FF2B5EF4-FFF2-40B4-BE49-F238E27FC236}">
                <a16:creationId xmlns:a16="http://schemas.microsoft.com/office/drawing/2014/main" id="{97678142-3599-4A7B-379D-92010F5CB8F6}"/>
              </a:ext>
            </a:extLst>
          </p:cNvPr>
          <p:cNvSpPr/>
          <p:nvPr/>
        </p:nvSpPr>
        <p:spPr>
          <a:xfrm>
            <a:off x="6400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Iberostar Waves</a:t>
            </a:r>
            <a:endParaRPr lang="en-US"/>
          </a:p>
        </p:txBody>
      </p:sp>
      <p:sp>
        <p:nvSpPr>
          <p:cNvPr id="3734" name="Rectangle 3733">
            <a:extLst>
              <a:ext uri="{FF2B5EF4-FFF2-40B4-BE49-F238E27FC236}">
                <a16:creationId xmlns:a16="http://schemas.microsoft.com/office/drawing/2014/main" id="{BD9A8EC7-8D71-C5BB-B249-36747EE68BA5}"/>
              </a:ext>
            </a:extLst>
          </p:cNvPr>
          <p:cNvSpPr/>
          <p:nvPr/>
        </p:nvSpPr>
        <p:spPr>
          <a:xfrm>
            <a:off x="6400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Resorts de playa para familias y parejas activas, con mucho programa.</a:t>
            </a:r>
            <a:endParaRPr lang="en-US"/>
          </a:p>
        </p:txBody>
      </p:sp>
      <p:sp>
        <p:nvSpPr>
          <p:cNvPr id="3760" name="Rectangle 3759">
            <a:extLst>
              <a:ext uri="{FF2B5EF4-FFF2-40B4-BE49-F238E27FC236}">
                <a16:creationId xmlns:a16="http://schemas.microsoft.com/office/drawing/2014/main" id="{F086C409-D4FF-0CF4-A397-62B7CF00ECCE}"/>
              </a:ext>
            </a:extLst>
          </p:cNvPr>
          <p:cNvSpPr/>
          <p:nvPr/>
        </p:nvSpPr>
        <p:spPr>
          <a:xfrm>
            <a:off x="44754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Iberostar Selection</a:t>
            </a:r>
            <a:endParaRPr lang="en-US"/>
          </a:p>
        </p:txBody>
      </p:sp>
      <p:sp>
        <p:nvSpPr>
          <p:cNvPr id="3787" name="Rectangle 3786">
            <a:extLst>
              <a:ext uri="{FF2B5EF4-FFF2-40B4-BE49-F238E27FC236}">
                <a16:creationId xmlns:a16="http://schemas.microsoft.com/office/drawing/2014/main" id="{0F1DB866-7E20-A00F-D84A-B9BDEAA15345}"/>
              </a:ext>
            </a:extLst>
          </p:cNvPr>
          <p:cNvSpPr/>
          <p:nvPr/>
        </p:nvSpPr>
        <p:spPr>
          <a:xfrm>
            <a:off x="44754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Premium: habitaciones amplias, más servicio y cocina diversa.</a:t>
            </a:r>
            <a:endParaRPr lang="en-US"/>
          </a:p>
        </p:txBody>
      </p:sp>
      <p:sp>
        <p:nvSpPr>
          <p:cNvPr id="3815" name="Rectangle 3814">
            <a:extLst>
              <a:ext uri="{FF2B5EF4-FFF2-40B4-BE49-F238E27FC236}">
                <a16:creationId xmlns:a16="http://schemas.microsoft.com/office/drawing/2014/main" id="{6FE4773F-9281-7582-CA50-A554EFCFF1B1}"/>
              </a:ext>
            </a:extLst>
          </p:cNvPr>
          <p:cNvSpPr/>
          <p:nvPr/>
        </p:nvSpPr>
        <p:spPr>
          <a:xfrm>
            <a:off x="8310880" y="23926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JOIA by Iberostar</a:t>
            </a:r>
            <a:endParaRPr lang="en-US"/>
          </a:p>
        </p:txBody>
      </p:sp>
      <p:sp>
        <p:nvSpPr>
          <p:cNvPr id="3844" name="Rectangle 3843">
            <a:extLst>
              <a:ext uri="{FF2B5EF4-FFF2-40B4-BE49-F238E27FC236}">
                <a16:creationId xmlns:a16="http://schemas.microsoft.com/office/drawing/2014/main" id="{15873B3A-707F-8A6B-82FB-ACC2CE27A85F}"/>
              </a:ext>
            </a:extLst>
          </p:cNvPr>
          <p:cNvSpPr/>
          <p:nvPr/>
        </p:nvSpPr>
        <p:spPr>
          <a:xfrm>
            <a:off x="8310880" y="28651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Cinco estrellas de lujo con servicio altamente personalizado.</a:t>
            </a:r>
            <a:endParaRPr lang="en-US"/>
          </a:p>
        </p:txBody>
      </p:sp>
      <p:sp>
        <p:nvSpPr>
          <p:cNvPr id="3874" name="Rectangle 3873">
            <a:extLst>
              <a:ext uri="{FF2B5EF4-FFF2-40B4-BE49-F238E27FC236}">
                <a16:creationId xmlns:a16="http://schemas.microsoft.com/office/drawing/2014/main" id="{2344B2F1-11D6-AD33-A1E5-0CA49E1B71DB}"/>
              </a:ext>
            </a:extLst>
          </p:cNvPr>
          <p:cNvSpPr/>
          <p:nvPr/>
        </p:nvSpPr>
        <p:spPr>
          <a:xfrm>
            <a:off x="6400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World2Fly</a:t>
            </a:r>
            <a:endParaRPr lang="en-US"/>
          </a:p>
        </p:txBody>
      </p:sp>
      <p:sp>
        <p:nvSpPr>
          <p:cNvPr id="3905" name="Rectangle 3904">
            <a:extLst>
              <a:ext uri="{FF2B5EF4-FFF2-40B4-BE49-F238E27FC236}">
                <a16:creationId xmlns:a16="http://schemas.microsoft.com/office/drawing/2014/main" id="{A3BB45CF-6DD9-C7E6-0C54-D6F36D31311C}"/>
              </a:ext>
            </a:extLst>
          </p:cNvPr>
          <p:cNvSpPr/>
          <p:nvPr/>
        </p:nvSpPr>
        <p:spPr>
          <a:xfrm>
            <a:off x="6400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Aerolínea propia con siete aviones de largo radio y 94% de ocupación.</a:t>
            </a:r>
            <a:endParaRPr lang="en-US"/>
          </a:p>
        </p:txBody>
      </p:sp>
      <p:sp>
        <p:nvSpPr>
          <p:cNvPr id="3937" name="Rectangle 3936">
            <a:extLst>
              <a:ext uri="{FF2B5EF4-FFF2-40B4-BE49-F238E27FC236}">
                <a16:creationId xmlns:a16="http://schemas.microsoft.com/office/drawing/2014/main" id="{6F799BE5-2087-97A8-1A39-C62DB3EAEDAD}"/>
              </a:ext>
            </a:extLst>
          </p:cNvPr>
          <p:cNvSpPr/>
          <p:nvPr/>
        </p:nvSpPr>
        <p:spPr>
          <a:xfrm>
            <a:off x="44754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Turoperación</a:t>
            </a:r>
            <a:endParaRPr lang="en-US"/>
          </a:p>
        </p:txBody>
      </p:sp>
      <p:sp>
        <p:nvSpPr>
          <p:cNvPr id="3970" name="Rectangle 3969">
            <a:extLst>
              <a:ext uri="{FF2B5EF4-FFF2-40B4-BE49-F238E27FC236}">
                <a16:creationId xmlns:a16="http://schemas.microsoft.com/office/drawing/2014/main" id="{BFED1EAE-544E-27AB-0452-D3E48A0067DE}"/>
              </a:ext>
            </a:extLst>
          </p:cNvPr>
          <p:cNvSpPr/>
          <p:nvPr/>
        </p:nvSpPr>
        <p:spPr>
          <a:xfrm>
            <a:off x="44754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Azulmarino, NewBlue, Icárion, Kannak y la red de agencias.</a:t>
            </a:r>
            <a:endParaRPr lang="en-US"/>
          </a:p>
        </p:txBody>
      </p:sp>
      <p:sp>
        <p:nvSpPr>
          <p:cNvPr id="4004" name="Rectangle 4003">
            <a:extLst>
              <a:ext uri="{FF2B5EF4-FFF2-40B4-BE49-F238E27FC236}">
                <a16:creationId xmlns:a16="http://schemas.microsoft.com/office/drawing/2014/main" id="{3CBFD811-DE46-2A40-AC91-3654DDB45E2D}"/>
              </a:ext>
            </a:extLst>
          </p:cNvPr>
          <p:cNvSpPr/>
          <p:nvPr/>
        </p:nvSpPr>
        <p:spPr>
          <a:xfrm>
            <a:off x="8310880" y="4145280"/>
            <a:ext cx="324104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Movilidad y camas</a:t>
            </a:r>
            <a:endParaRPr lang="en-US"/>
          </a:p>
        </p:txBody>
      </p:sp>
      <p:sp>
        <p:nvSpPr>
          <p:cNvPr id="4039" name="Rectangle 4038">
            <a:extLst>
              <a:ext uri="{FF2B5EF4-FFF2-40B4-BE49-F238E27FC236}">
                <a16:creationId xmlns:a16="http://schemas.microsoft.com/office/drawing/2014/main" id="{6F3F4E5C-98BA-AE15-2399-033308445368}"/>
              </a:ext>
            </a:extLst>
          </p:cNvPr>
          <p:cNvSpPr/>
          <p:nvPr/>
        </p:nvSpPr>
        <p:spPr>
          <a:xfrm>
            <a:off x="8310880" y="4617720"/>
            <a:ext cx="324104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Úbico para movilidad y un banco de 500.000 establecimientos.</a:t>
            </a:r>
            <a:endParaRPr lang="en-US"/>
          </a:p>
        </p:txBody>
      </p:sp>
      <p:sp>
        <p:nvSpPr>
          <p:cNvPr id="4075" name="Rectangle 4074">
            <a:extLst>
              <a:ext uri="{FF2B5EF4-FFF2-40B4-BE49-F238E27FC236}">
                <a16:creationId xmlns:a16="http://schemas.microsoft.com/office/drawing/2014/main" id="{D2ABB7C2-FB12-4932-C5E9-C76C8B7C5C3F}"/>
              </a:ext>
            </a:extLst>
          </p:cNvPr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0A2633"/>
                </a:solidFill>
                <a:effectLst/>
                <a:latin typeface="Trebuchet MS" panose="020B0603020202020204" pitchFamily="34" charset="0"/>
              </a:rPr>
              <a:t>El mismo huésped pasa por avión, traslado, hotel y excursión: cuatro momentos de voz.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2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2" name="Rectangle 4111">
            <a:extLst>
              <a:ext uri="{FF2B5EF4-FFF2-40B4-BE49-F238E27FC236}">
                <a16:creationId xmlns:a16="http://schemas.microsoft.com/office/drawing/2014/main" id="{8394A04C-1A8A-3A72-926D-1DA4A4C30C4C}"/>
              </a:ext>
            </a:extLst>
          </p:cNvPr>
          <p:cNvSpPr/>
          <p:nvPr/>
        </p:nvSpPr>
        <p:spPr>
          <a:xfrm>
            <a:off x="457200" y="1767840"/>
            <a:ext cx="11277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A9C4D2"/>
                </a:solidFill>
                <a:effectLst/>
                <a:latin typeface="Trebuchet MS" panose="020B0603020202020204" pitchFamily="34" charset="0"/>
              </a:rPr>
              <a:t>HACKATÓN TURING · PARTE 1 DE 3</a:t>
            </a:r>
            <a:endParaRPr lang="en-US"/>
          </a:p>
        </p:txBody>
      </p:sp>
      <p:sp>
        <p:nvSpPr>
          <p:cNvPr id="4150" name="Rectangle 4149">
            <a:extLst>
              <a:ext uri="{FF2B5EF4-FFF2-40B4-BE49-F238E27FC236}">
                <a16:creationId xmlns:a16="http://schemas.microsoft.com/office/drawing/2014/main" id="{36A2240C-4CC4-16A0-3FE2-7CEBD829CF42}"/>
              </a:ext>
            </a:extLst>
          </p:cNvPr>
          <p:cNvSpPr/>
          <p:nvPr/>
        </p:nvSpPr>
        <p:spPr>
          <a:xfrm>
            <a:off x="457200" y="2286000"/>
            <a:ext cx="11277600" cy="1356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Seis clientes, treinta y seis líneas de negocio.</a:t>
            </a:r>
            <a:endParaRPr lang="en-US"/>
          </a:p>
        </p:txBody>
      </p:sp>
      <p:sp>
        <p:nvSpPr>
          <p:cNvPr id="4189" name="Rectangle 4188">
            <a:extLst>
              <a:ext uri="{FF2B5EF4-FFF2-40B4-BE49-F238E27FC236}">
                <a16:creationId xmlns:a16="http://schemas.microsoft.com/office/drawing/2014/main" id="{23B144E9-67B2-A537-307B-E05315969493}"/>
              </a:ext>
            </a:extLst>
          </p:cNvPr>
          <p:cNvSpPr/>
          <p:nvPr/>
        </p:nvSpPr>
        <p:spPr>
          <a:xfrm>
            <a:off x="457200" y="3779520"/>
            <a:ext cx="11277600" cy="10515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A9C4D2"/>
                </a:solidFill>
                <a:effectLst/>
                <a:latin typeface="Calibri" panose="020F0502020204030204" pitchFamily="34" charset="0"/>
              </a:rPr>
              <a:t>Elige la vertical antes que la tecnología. El reto que presentes tiene que caer dentro de una de estas treinta y seis líneas.</a:t>
            </a:r>
            <a:endParaRPr lang="en-US"/>
          </a:p>
        </p:txBody>
      </p:sp>
      <p:sp>
        <p:nvSpPr>
          <p:cNvPr id="4229" name="Rectangle 4228">
            <a:extLst>
              <a:ext uri="{FF2B5EF4-FFF2-40B4-BE49-F238E27FC236}">
                <a16:creationId xmlns:a16="http://schemas.microsoft.com/office/drawing/2014/main" id="{C54BCA53-C993-FC71-CC93-A0D4216314F6}"/>
              </a:ext>
            </a:extLst>
          </p:cNvPr>
          <p:cNvSpPr/>
          <p:nvPr/>
        </p:nvSpPr>
        <p:spPr>
          <a:xfrm>
            <a:off x="457200" y="548640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A9C4D2"/>
                </a:solidFill>
                <a:effectLst/>
                <a:latin typeface="Calibri" panose="020F0502020204030204" pitchFamily="34" charset="0"/>
              </a:rPr>
              <a:t>Continúa en la parte 2: los tres retos de cada cliente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8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1622</Words>
  <Application>Microsoft Office PowerPoint</Application>
  <PresentationFormat>Widescreen</PresentationFormat>
  <Paragraphs>186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CESARDL</dc:creator>
  <cp:keywords/>
  <dc:description/>
  <cp:lastModifiedBy>Cesar De la Torre</cp:lastModifiedBy>
  <cp:revision>13</cp:revision>
  <dcterms:created xsi:type="dcterms:W3CDTF">2026-09-17T13:33:53Z</dcterms:created>
  <dcterms:modified xsi:type="dcterms:W3CDTF">2026-09-18T09:57:28Z</dcterms:modified>
  <cp:category/>
</cp:coreProperties>
</file>