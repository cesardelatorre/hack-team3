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Lora" pitchFamily="2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interna: 20260916_Retos Activos_Pendientes.docx, reto «Asesor Nutricional y Recomendador de Maridajes en el Buffet». Documento facilitado por el usuario.</a:t>
            </a:r>
          </a:p>
          <a:p>
            <a:r>
              <a:t>Fuente interna: Hackaton Turing 2026 - 1 Clientes y Verticales.pptx, diapositivas 2, 3, 14, 15 y 16. Solo se dispone de la parte 1; bases completas y volumetrías pendientes.</a:t>
            </a:r>
          </a:p>
          <a:p>
            <a:r>
              <a:t>Propuesta de solución y plan de proyecto. Caso seleccionado y alcance inicial acordado en conversación.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 interna: 20260916_Retos Activos_Pendientes.docx, reto «Asesor Nutricional y Recomendador de Maridajes en el Buffet». Documento facilitado por el usuario.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 interacción usa voz, texto e imagen. La lectura del cartel identifica el plato; su composición se consulta en el catálogo validado. El sistema no diagnostica ni prescribe dietas clínicas.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Fuentes públicas consultadas el 18/09/2026: https://www.iberostar.com/honest-food/ ; https://grupoiberostar.com/es/hotel-digital/ ; https://www.iberostar.com/en-ca/app-iberostar/ 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 interna: 20260916_Retos Activos_Pendientes.docx, reto «Asesor Nutricional y Recomendador de Maridajes en el Buffet». Documento facilitado por el usuario.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Foto de contexto: https://www.ihg.com/iberostar-beachfront-resorts/content/us/en/experiences/all-inclusive . Imagen: https://digital.ihg.com/is/image/ihg/iberostar-gourmet-market-buffet-2x1 . No identifica un hotel piloto seleccionado.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 interna: 20260916_Retos Activos_Pendientes.docx, reto «Asesor Nutricional y Recomendador de Maridajes en el Buffet». Documento facilitado por el usuario.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En producción, el régimen requiere una fuente autorizada. En la POC se emplea un perfil de demostración explícito. La inclusión en el régimen nunca se infiere de la categoría del hotel.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 interna: 20260916_Retos Activos_Pendientes.docx, reto «Asesor Nutricional y Recomendador de Maridajes en el Buffet». Documento facilitado por el usuario.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El nombre del hotel, el conjunto de recetas y la carta están pendientes de acceso y validación. Fuera de la POC: pagos, pedidos reales, PMS, integración en la app, perfil persistente y calorías estimadas por fotografía. Los vinos y precios de demostración no se presentan como oferta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Guion previsto de 3 minutos: 0:00–0:30 necesidad; 0:30–1:20 voz e imagen; 1:20–2:10 cambio de disponibilidad; 2:10–2:40 dato incompleto; 2:40–3:00 resumen de evidencia. Probar la segunda lengua en una consulta breve. Registrar tiempo, datos usados y resultado. Una grabación de respaldo se rotulará como tal si se 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Arquitectura propuesta: cliente web móvil, backend modular, base relacional y proveedor de IA por adaptador. Explorar voz en tiempo real frente a transcripción y síntesis separadas, comparando latencia, coste y ruido. Evitar entrenar un modelo propio en la POC. La selección de proveedor depende de pruebas ES/EN, residencia, privacidad y coste. La lectura visual no determina alérgenos. Revalidar stock y precios al generar cada recomendación.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 interna: 20260916_Retos Activos_Pendientes.docx, reto «Asesor Nutricional y Recomendador de Maridajes en el Buffet». Documento facilitado por el usuario.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Datos mínimos: hotelId, servicio, fecha, dishId, versión de receta, ingredientes, campos dietéticos aprobados, alérgenos y advertencias, wineId, precio/unidad, moneda, stock y fecha de actualización. El director de F&amp;B aprueba publicación. Integraciones concretas y APIs no verificadas. No confundir ausencia de un alérgeno en una receta con garantía sobre contaminación cruzada.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Las fases 2 a 4 requieren patrocinio y presupuesto. No existe compromiso de despliegue mundial. La integración con pedidos o venta se evalúa después del piloto, con confirmación explícita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Estimación relativa tras disponer de datos y equipo. Duración real del hackathon por confirmar. Equipo propuesto para POC: 3–4 personas combinando producto/UX, frontend, backend/IA y QA, con experto de cocina/sala disponible. Dependencia principal: catálogo validado. No son fechas comprometidas. Al cierre de cada fase: revisión de riesgos, pruebas, coste y decisión continuar/corregir/detener. No se ha desarrollado aún la POC en este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Capacidad: dimensionar desde sesiones observadas por servicio y concurrencia en hora punta; probar al doble del pico previsto antes de cada oleada. Servicio escalable horizontalmente; datos y claves aislados; caché solo para contenido no volátil. Precio y stock con validación de vigencia. Selección regional de alojamiento y proveedores por revisión local. Sin conectividad, mostrar únicamente catálogo estático fechado, desactivar afirmaciones de stock/precio vigente y ofrecer atención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Seguridad propuesta, no certificada. Revisar con seguridad y privacidad de Iberostar: retención, datos dietéticos potencialmente sensibles, proveedores, contratos, localización y transferencias. Configurar no uso para entrenamiento según contrato y controles del proveedor. Autorización hotelId validada en servidor, no confiada al modelo. Probar instrucciones maliciosas en carteles, fuga entre hoteles y extracción de secretos. Redactar logs, limitar solicitudes y proteger endpoints. Un incidente activa deshabilitación de recomendaciones y canal humano.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Los porcentajes son metas, no resultados. F&amp;B etiqueta el conjunto de evaluación antes de probar. Medir tiempos desde envío de consulta (fin de voz o carga de imagen); los límites dependen de red y proveedor. El conjunto de 50 casos es un mínimo inicial de POC, no demuestra seguridad universal. Ampliarlo en piloto con revisión de cocina y sala. Cada cambio de modelo, prompt o catálogo ejecuta regresión. Error crítico alimentario o fuga de datos: detener despliegue, corregir y repetir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Margen incremental neto = comensales elegibles × diferencia de margen de vino por comensal − coste incremental del servicio. Usar bebidas realmente vendidas y costes, no clics. Solo cuenta venta adicional cuando el producto no está incluido. Comparar ocupación, mezcla de clientes, promociones y turnos; definir muestra tras baseline. La capacidad de personal liberada se reporta aparte de ahorro monetario. Las recomendaciones incluidas y sin alcohol siguen disponibles; el objetivo comercial no invalida preferencias.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 interna: Hackaton Turing 2026 - 1 Clientes y Verticales.pptx, diapositivas 2, 3, 14, 15 y 16. Solo se dispone de la parte 1; bases completas y volumetrías pendientes.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 de criterios: mensaje del usuario en esta conversación. No se dispone de una estrategia corporativa oficial de Turing ni de una rúbrica con pesos. El alineamiento se refiere a los criterios comunicados. Plan de aprendizaje: comparar alternativas de voz, documentar hipótesis y fallos, demostraciones diarias y retrospectiva para compartir conocimiento.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Otros riesgos: menús que cambian sin publicación, atribución incorrecta de ingresos, ruido del buffet y sobrecoste de IA. Mitigaciones: responsable por turno, baseline y comparación, modo texto, presupuestos y límites de uso. No expandir con un riesgo crítico abierto.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Visión general de producto, no compromiso contractual. Modelo comercial a definir tras el piloto: implantación y operación por hotel con consumo controlado. Nuevos dominios o clientes requieren evaluar necesidad, datos y riesgos de nuevo. Propiedad intelectual, uso de datos y condiciones comerciales se pactan con cada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Contenido propuesto por el equipo para discusión. No representa una integración construida, un resultado medido ni un compromiso aprobado por Iberostar. Plazos, equipo y umbrales requieren validación.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Pendientes concretos: elección de hotel, muestra, autorización de uso de datos, proveedor IA, entorno y fechas. Confirmar bases completas del hackathon, duración y volumetría. Esta presentación es la propuesta; no equivale a aprobación del cliente ni inicio de construcción.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 interna: 20260916_Retos Activos_Pendientes.docx, reto «Asesor Nutricional y Recomendador de Maridajes en el Buffet». Documento facilitado por el usuario.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 interna: Hackaton Turing 2026 - 1 Clientes y Verticales.pptx, diapositivas 2, 3, 14, 15 y 16. Solo se dispone de la parte 1; bases completas y volumetrías pendientes.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Fuentes públicas consultadas el 18/09/2026: https://www.iberostar.com/honest-food/ ; https://grupoiberostar.com/es/hotel-digital/ ; https://www.iberostar.com/en-ca/app-iberostar/ 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Imagen: https://www.ihg.com/iberostar-beachfront-resorts/content/us/en/experiences/all-inclusive y https://digital.ihg.com/is/image/ihg/iberostar-gourmet-market-buffet-2x1 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Alcance y criterios Turing facilitados por el usuario. No se han medido resultados ni verificado APIs privadas. La web pública no prueba uniformidad de despliegue en todos los hoteles.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079" y="2031642"/>
            <a:ext cx="11063842" cy="2491490"/>
          </a:xfrm>
        </p:spPr>
        <p:txBody>
          <a:bodyPr anchor="ctr">
            <a:noAutofit/>
          </a:bodyPr>
          <a:lstStyle/>
          <a:p>
            <a:pPr algn="ctr">
              <a:buNone/>
              <a:defRPr sz="6150"/>
            </a:pPr>
            <a:r>
              <a:rPr sz="6150" dirty="0" err="1">
                <a:latin typeface="Lora"/>
                <a:ea typeface="Lora"/>
                <a:cs typeface="Lora"/>
              </a:rPr>
              <a:t>Asistente</a:t>
            </a:r>
            <a:r>
              <a:rPr sz="6150" dirty="0">
                <a:latin typeface="Lora"/>
                <a:ea typeface="Lora"/>
                <a:cs typeface="Lora"/>
              </a:rPr>
              <a:t> de </a:t>
            </a:r>
            <a:r>
              <a:rPr lang="es-ES" sz="6150" dirty="0">
                <a:latin typeface="Lora"/>
                <a:ea typeface="Lora"/>
                <a:cs typeface="Lora"/>
              </a:rPr>
              <a:t>restaurante</a:t>
            </a:r>
            <a:endParaRPr sz="6150" dirty="0">
              <a:latin typeface="Lora"/>
              <a:ea typeface="Lora"/>
              <a:cs typeface="Lora"/>
            </a:endParaRPr>
          </a:p>
          <a:p>
            <a:pPr algn="ctr">
              <a:buNone/>
              <a:defRPr sz="6150"/>
            </a:pPr>
            <a:r>
              <a:rPr sz="6150" dirty="0">
                <a:latin typeface="Lora"/>
                <a:ea typeface="Lora"/>
                <a:cs typeface="Lora"/>
              </a:rPr>
              <a:t>y </a:t>
            </a:r>
            <a:r>
              <a:rPr sz="6150" dirty="0" err="1">
                <a:latin typeface="Lora"/>
                <a:ea typeface="Lora"/>
                <a:cs typeface="Lora"/>
              </a:rPr>
              <a:t>sumiller</a:t>
            </a:r>
            <a:endParaRPr sz="6150" dirty="0">
              <a:latin typeface="Lora"/>
              <a:ea typeface="Lora"/>
              <a:cs typeface="Lora"/>
            </a:endParaRP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8999" y="5045149"/>
            <a:ext cx="7394002" cy="794439"/>
          </a:xfrm>
        </p:spPr>
        <p:txBody>
          <a:bodyPr>
            <a:noAutofit/>
          </a:bodyPr>
          <a:lstStyle/>
          <a:p>
            <a:pPr algn="ctr">
              <a:buNone/>
              <a:defRPr>
                <a:solidFill>
                  <a:srgbClr val="B3B3B3"/>
                </a:solidFill>
              </a:defRPr>
            </a:pPr>
            <a:r>
              <a:rPr sz="1800">
                <a:solidFill>
                  <a:srgbClr val="B3B3B3"/>
                </a:solidFill>
              </a:rPr>
              <a:t>Voz e imagen para elegir mejor durante la estancia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noGrp="1"/>
          </p:cNvSpPr>
          <p:nvPr/>
        </p:nvSpPr>
        <p:spPr>
          <a:xfrm>
            <a:off x="3244850" y="1352742"/>
            <a:ext cx="5702300" cy="36179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Iberostar Selection · Hackathon Turing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E2598689-54C9-18A7-3A19-ED76AA08988F}" type="slidenum">
              <a:rPr>
                <a:solidFill>
                  <a:srgbClr val="9B9B9B"/>
                </a:solidFill>
              </a:rPr>
              <a:t>2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136" y="584287"/>
            <a:ext cx="9031596" cy="1262107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 algn="ctr">
              <a:buNone/>
            </a:pPr>
            <a:r>
              <a:rPr sz="3600" dirty="0"/>
              <a:t>Una </a:t>
            </a:r>
            <a:r>
              <a:rPr sz="3600" dirty="0" err="1"/>
              <a:t>elección</a:t>
            </a:r>
            <a:r>
              <a:rPr sz="3600" dirty="0"/>
              <a:t> </a:t>
            </a:r>
            <a:r>
              <a:rPr sz="3600" dirty="0" err="1"/>
              <a:t>más</a:t>
            </a:r>
            <a:r>
              <a:rPr sz="3600" dirty="0"/>
              <a:t> </a:t>
            </a:r>
            <a:r>
              <a:rPr sz="3600" dirty="0" err="1"/>
              <a:t>fácil</a:t>
            </a:r>
            <a:endParaRPr sz="3600" dirty="0"/>
          </a:p>
          <a:p>
            <a:pPr algn="ctr">
              <a:buNone/>
            </a:pPr>
            <a:r>
              <a:rPr sz="3600" dirty="0" err="1"/>
              <a:t>en</a:t>
            </a:r>
            <a:r>
              <a:rPr sz="3600" dirty="0"/>
              <a:t> el </a:t>
            </a:r>
            <a:r>
              <a:rPr sz="3600" dirty="0" err="1"/>
              <a:t>momento</a:t>
            </a:r>
            <a:r>
              <a:rPr sz="3600" dirty="0"/>
              <a:t> de comer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815863" y="1968937"/>
            <a:ext cx="7897486" cy="2616365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  <a:defRPr sz="2025"/>
            </a:pPr>
            <a:r>
              <a:rPr sz="2025" dirty="0"/>
              <a:t>El </a:t>
            </a:r>
            <a:r>
              <a:rPr sz="2025" dirty="0" err="1"/>
              <a:t>huésped</a:t>
            </a:r>
            <a:r>
              <a:rPr sz="2025" dirty="0"/>
              <a:t> </a:t>
            </a:r>
            <a:r>
              <a:rPr sz="2025" dirty="0" err="1"/>
              <a:t>expresa</a:t>
            </a:r>
            <a:r>
              <a:rPr sz="2025" dirty="0"/>
              <a:t> sus </a:t>
            </a:r>
            <a:r>
              <a:rPr sz="2025" dirty="0" err="1"/>
              <a:t>preferencias</a:t>
            </a:r>
            <a:r>
              <a:rPr sz="2025" dirty="0"/>
              <a:t>. El </a:t>
            </a:r>
            <a:r>
              <a:rPr sz="2025" dirty="0" err="1"/>
              <a:t>asistente</a:t>
            </a:r>
            <a:r>
              <a:rPr sz="2025" dirty="0"/>
              <a:t> consulta la </a:t>
            </a:r>
            <a:r>
              <a:rPr sz="2025" dirty="0" err="1"/>
              <a:t>oferta</a:t>
            </a:r>
            <a:r>
              <a:rPr sz="2025" dirty="0"/>
              <a:t> </a:t>
            </a:r>
            <a:r>
              <a:rPr sz="2025" dirty="0" err="1"/>
              <a:t>vigente</a:t>
            </a:r>
            <a:r>
              <a:rPr sz="2025" dirty="0"/>
              <a:t> y propone </a:t>
            </a:r>
            <a:r>
              <a:rPr sz="2025" dirty="0" err="1"/>
              <a:t>platos</a:t>
            </a:r>
            <a:r>
              <a:rPr sz="2025" dirty="0"/>
              <a:t> y vinos con </a:t>
            </a:r>
            <a:r>
              <a:rPr sz="2025" dirty="0" err="1"/>
              <a:t>información</a:t>
            </a:r>
            <a:r>
              <a:rPr sz="2025" dirty="0"/>
              <a:t> </a:t>
            </a:r>
            <a:r>
              <a:rPr sz="2025" dirty="0" err="1"/>
              <a:t>verificable</a:t>
            </a:r>
            <a:r>
              <a:rPr lang="es-ES" sz="2025" dirty="0"/>
              <a:t> en base a los gustos del usuario</a:t>
            </a:r>
            <a:r>
              <a:rPr sz="2025" dirty="0"/>
              <a:t>.</a:t>
            </a:r>
            <a:endParaRPr lang="es-ES" sz="2025" dirty="0"/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  <a:defRPr sz="2025"/>
            </a:pPr>
            <a:r>
              <a:rPr lang="en-US" sz="2025" dirty="0"/>
              <a:t>El </a:t>
            </a:r>
            <a:r>
              <a:rPr lang="en-US" sz="2025" dirty="0" err="1"/>
              <a:t>aistente</a:t>
            </a:r>
            <a:r>
              <a:rPr lang="en-US" sz="2025" dirty="0"/>
              <a:t> </a:t>
            </a:r>
            <a:r>
              <a:rPr lang="en-US" sz="2025" dirty="0" err="1"/>
              <a:t>tiene</a:t>
            </a:r>
            <a:r>
              <a:rPr lang="en-US" sz="2025" dirty="0"/>
              <a:t> gran </a:t>
            </a:r>
            <a:r>
              <a:rPr lang="en-US" sz="2025" dirty="0" err="1"/>
              <a:t>capacidad</a:t>
            </a:r>
            <a:r>
              <a:rPr lang="en-US" sz="2025" dirty="0"/>
              <a:t> de </a:t>
            </a:r>
            <a:r>
              <a:rPr lang="en-US" sz="2025" dirty="0" err="1"/>
              <a:t>conversacion</a:t>
            </a:r>
            <a:r>
              <a:rPr lang="en-US" sz="2025" dirty="0"/>
              <a:t> </a:t>
            </a:r>
            <a:r>
              <a:rPr lang="en-US" sz="2025" dirty="0" err="1"/>
              <a:t>sobre</a:t>
            </a:r>
            <a:r>
              <a:rPr lang="en-US" sz="2025" dirty="0"/>
              <a:t> </a:t>
            </a:r>
            <a:r>
              <a:rPr lang="en-US" sz="2025" dirty="0" err="1"/>
              <a:t>maridajes</a:t>
            </a:r>
            <a:r>
              <a:rPr lang="en-US" sz="2025" dirty="0"/>
              <a:t>, </a:t>
            </a:r>
            <a:r>
              <a:rPr lang="en-US" sz="2025" dirty="0" err="1"/>
              <a:t>explicaciones</a:t>
            </a:r>
            <a:r>
              <a:rPr lang="en-US" sz="2025" dirty="0"/>
              <a:t> </a:t>
            </a:r>
            <a:r>
              <a:rPr lang="en-US" sz="2025" dirty="0" err="1"/>
              <a:t>en</a:t>
            </a:r>
            <a:r>
              <a:rPr lang="en-US" sz="2025" dirty="0"/>
              <a:t> </a:t>
            </a:r>
            <a:r>
              <a:rPr lang="en-US" sz="2025" dirty="0" err="1"/>
              <a:t>detalle</a:t>
            </a:r>
            <a:r>
              <a:rPr lang="en-US" sz="2025" dirty="0"/>
              <a:t> de los </a:t>
            </a:r>
            <a:r>
              <a:rPr lang="en-US" sz="2025" dirty="0" err="1"/>
              <a:t>platos</a:t>
            </a:r>
            <a:r>
              <a:rPr lang="en-US" sz="2025" dirty="0"/>
              <a:t>, </a:t>
            </a:r>
            <a:r>
              <a:rPr lang="en-US" sz="2025" dirty="0" err="1"/>
              <a:t>como</a:t>
            </a:r>
            <a:r>
              <a:rPr lang="en-US" sz="2025" dirty="0"/>
              <a:t> </a:t>
            </a:r>
            <a:r>
              <a:rPr lang="en-US" sz="2025" dirty="0" err="1"/>
              <a:t>estan</a:t>
            </a:r>
            <a:r>
              <a:rPr lang="en-US" sz="2025" dirty="0"/>
              <a:t> </a:t>
            </a:r>
            <a:r>
              <a:rPr lang="en-US" sz="2025" dirty="0" err="1"/>
              <a:t>cocinados</a:t>
            </a:r>
            <a:r>
              <a:rPr lang="en-US" sz="2025" dirty="0"/>
              <a:t> y de los vinos, bodegas, </a:t>
            </a:r>
            <a:r>
              <a:rPr lang="en-US" sz="2025" dirty="0" err="1"/>
              <a:t>uvas</a:t>
            </a:r>
            <a:r>
              <a:rPr lang="en-US" sz="2025" dirty="0"/>
              <a:t>, </a:t>
            </a:r>
            <a:r>
              <a:rPr lang="en-US" sz="2025" dirty="0" err="1"/>
              <a:t>años</a:t>
            </a:r>
            <a:r>
              <a:rPr lang="en-US" sz="2025" dirty="0"/>
              <a:t>, etc.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  <a:defRPr sz="2025"/>
            </a:pPr>
            <a:r>
              <a:rPr lang="en-US" sz="2025" dirty="0" err="1"/>
              <a:t>Finalmente</a:t>
            </a:r>
            <a:r>
              <a:rPr lang="en-US" sz="2025" dirty="0"/>
              <a:t> el </a:t>
            </a:r>
            <a:r>
              <a:rPr lang="en-US" sz="2025" dirty="0" err="1"/>
              <a:t>asistente</a:t>
            </a:r>
            <a:r>
              <a:rPr lang="en-US" sz="2025" dirty="0"/>
              <a:t> se </a:t>
            </a:r>
            <a:r>
              <a:rPr lang="en-US" sz="2025" dirty="0" err="1"/>
              <a:t>conecta</a:t>
            </a:r>
            <a:r>
              <a:rPr lang="en-US" sz="2025" dirty="0"/>
              <a:t> al </a:t>
            </a:r>
            <a:r>
              <a:rPr lang="en-US" sz="2025" dirty="0" err="1"/>
              <a:t>backoffice</a:t>
            </a:r>
            <a:r>
              <a:rPr lang="en-US" sz="2025" dirty="0"/>
              <a:t> y </a:t>
            </a:r>
            <a:r>
              <a:rPr lang="en-US" sz="2025" dirty="0" err="1"/>
              <a:t>hace</a:t>
            </a:r>
            <a:r>
              <a:rPr lang="en-US" sz="2025" dirty="0"/>
              <a:t> el </a:t>
            </a:r>
            <a:r>
              <a:rPr lang="en-US" sz="2025" dirty="0" err="1"/>
              <a:t>pedido</a:t>
            </a:r>
            <a:r>
              <a:rPr lang="en-US" sz="2025" dirty="0"/>
              <a:t> real de comida y </a:t>
            </a:r>
            <a:r>
              <a:rPr lang="en-US" sz="2025" dirty="0" err="1"/>
              <a:t>bebida</a:t>
            </a:r>
            <a:r>
              <a:rPr lang="en-US" sz="2025" dirty="0"/>
              <a:t>.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  <a:defRPr sz="2025"/>
            </a:pPr>
            <a:r>
              <a:rPr sz="2025" dirty="0"/>
              <a:t>La </a:t>
            </a:r>
            <a:r>
              <a:rPr sz="2025" dirty="0" err="1"/>
              <a:t>primera</a:t>
            </a:r>
            <a:r>
              <a:rPr sz="2025" dirty="0"/>
              <a:t> </a:t>
            </a:r>
            <a:r>
              <a:rPr sz="2025" dirty="0" err="1"/>
              <a:t>validación</a:t>
            </a:r>
            <a:r>
              <a:rPr sz="2025" dirty="0"/>
              <a:t> se </a:t>
            </a:r>
            <a:r>
              <a:rPr sz="2025" dirty="0" err="1"/>
              <a:t>concentra</a:t>
            </a:r>
            <a:r>
              <a:rPr sz="2025" dirty="0"/>
              <a:t> </a:t>
            </a:r>
            <a:r>
              <a:rPr sz="2025" dirty="0" err="1"/>
              <a:t>en</a:t>
            </a:r>
            <a:r>
              <a:rPr sz="2025" dirty="0"/>
              <a:t> un hotel de Iberostar Selection.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noGrp="1"/>
          </p:cNvSpPr>
          <p:nvPr/>
        </p:nvSpPr>
        <p:spPr>
          <a:xfrm>
            <a:off x="3097564" y="222489"/>
            <a:ext cx="5702300" cy="36179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>
                <a:solidFill>
                  <a:srgbClr val="B3B3B3"/>
                </a:solidFill>
              </a:defRPr>
            </a:pPr>
            <a:r>
              <a:rPr sz="2000">
                <a:solidFill>
                  <a:srgbClr val="B3B3B3"/>
                </a:solidFill>
                <a:latin typeface="Roboto"/>
                <a:ea typeface="Roboto"/>
                <a:cs typeface="Roboto"/>
              </a:rPr>
              <a:t>Visión de la solución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202359C0-8A7A-196E-DD58-8E6569619F09}" type="slidenum">
              <a:rPr>
                <a:solidFill>
                  <a:srgbClr val="9B9B9B"/>
                </a:solidFill>
              </a:rPr>
              <a:t>3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372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Encaje con Iberostar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noGrp="1"/>
          </p:cNvSpPr>
          <p:nvPr/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Gastronomía personalizada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FF4305"/>
                </a:solidFill>
              </a:rPr>
              <a:t>dentro de Hotel Digital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noGrp="1"/>
          </p:cNvSpPr>
          <p:nvPr/>
        </p:nvSpPr>
        <p:spPr>
          <a:xfrm>
            <a:off x="393700" y="2918564"/>
            <a:ext cx="5537200" cy="32209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Honest Food aporta una oferta fresca, local y multicultural que el huésped puede descubrir mejor.</a:t>
            </a:r>
          </a:p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endParaRPr/>
          </a:p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La app ya incluye menús, reservas y chat. Proponemos añadir recomendaciones contextualizadas con precios y disponibilidad.</a:t>
            </a:r>
          </a:p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endParaRPr/>
          </a:p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Primer ámbito: Alimentos y Bebidas de Iberostar Selection.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915EAC-A9D6-5546-8BEE-370A859AD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941" y="1614775"/>
            <a:ext cx="5071391" cy="338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EFD6AB9A-5F9E-5F59-51AB-3C8734130965}" type="slidenum">
              <a:rPr>
                <a:solidFill>
                  <a:srgbClr val="9B9B9B"/>
                </a:solidFill>
              </a:rPr>
              <a:t>4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Funcionalidad global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Conversar y reconocer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Voz, texto y cámara. Español e inglés. Preferencias, presupuesto y lectura de carteles. Confirmación si el plato es ambiguo.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Gestionar y medir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Publicación de menús y vinos. Avisos de datos caducados. Derivación al personal y métricas de uso sin identificar al huésped.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Recomendar y explicar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Platos del menú vigente y maridajes disponibles. Ingredientes, precio, régimen y motivo de la recomendación.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668" y="1150239"/>
            <a:ext cx="10572750" cy="139703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solidFill>
                  <a:srgbClr val="B3B3B3"/>
                </a:solidFill>
              </a:defRPr>
            </a:pPr>
            <a:r>
              <a:rPr sz="1800">
                <a:solidFill>
                  <a:srgbClr val="B3B3B3"/>
                </a:solidFill>
              </a:rPr>
              <a:t>Una experiencia breve para el huésped y un catálogo controlado por el hotel.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EE5B3003-2C54-13C6-9832-7637201064DE}" type="slidenum">
              <a:rPr>
                <a:solidFill>
                  <a:srgbClr val="9B9B9B"/>
                </a:solidFill>
              </a:rPr>
              <a:t>5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531203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Una POC pequeña y demostrable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noGrp="1"/>
          </p:cNvSpPr>
          <p:nvPr/>
        </p:nvSpPr>
        <p:spPr>
          <a:xfrm>
            <a:off x="393668" y="1150239"/>
            <a:ext cx="10001250" cy="139703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solidFill>
                  <a:srgbClr val="B3B3B3"/>
                </a:solidFill>
              </a:defRPr>
            </a:pPr>
            <a:r>
              <a:rPr sz="1800" dirty="0" err="1">
                <a:solidFill>
                  <a:srgbClr val="B3B3B3"/>
                </a:solidFill>
              </a:rPr>
              <a:t>Prototipo</a:t>
            </a:r>
            <a:r>
              <a:rPr sz="1800" dirty="0">
                <a:solidFill>
                  <a:srgbClr val="B3B3B3"/>
                </a:solidFill>
              </a:rPr>
              <a:t> web</a:t>
            </a:r>
            <a:r>
              <a:rPr lang="es-ES" sz="1800" dirty="0">
                <a:solidFill>
                  <a:srgbClr val="B3B3B3"/>
                </a:solidFill>
              </a:rPr>
              <a:t>/</a:t>
            </a:r>
            <a:r>
              <a:rPr sz="1800" dirty="0" err="1">
                <a:solidFill>
                  <a:srgbClr val="B3B3B3"/>
                </a:solidFill>
              </a:rPr>
              <a:t>móvil</a:t>
            </a:r>
            <a:r>
              <a:rPr lang="es-ES" sz="1800" dirty="0">
                <a:solidFill>
                  <a:srgbClr val="B3B3B3"/>
                </a:solidFill>
              </a:rPr>
              <a:t> (</a:t>
            </a:r>
            <a:r>
              <a:rPr lang="es-ES" sz="1800" dirty="0" err="1">
                <a:solidFill>
                  <a:srgbClr val="B3B3B3"/>
                </a:solidFill>
              </a:rPr>
              <a:t>progressive</a:t>
            </a:r>
            <a:r>
              <a:rPr lang="es-ES" sz="1800" dirty="0">
                <a:solidFill>
                  <a:srgbClr val="B3B3B3"/>
                </a:solidFill>
              </a:rPr>
              <a:t> web app)</a:t>
            </a:r>
            <a:r>
              <a:rPr sz="1800" dirty="0">
                <a:solidFill>
                  <a:srgbClr val="B3B3B3"/>
                </a:solidFill>
              </a:rPr>
              <a:t>. Datos de </a:t>
            </a:r>
            <a:r>
              <a:rPr sz="1800" dirty="0" err="1">
                <a:solidFill>
                  <a:srgbClr val="B3B3B3"/>
                </a:solidFill>
              </a:rPr>
              <a:t>ejemplo</a:t>
            </a:r>
            <a:r>
              <a:rPr sz="1800" dirty="0">
                <a:solidFill>
                  <a:srgbClr val="B3B3B3"/>
                </a:solidFill>
              </a:rPr>
              <a:t> </a:t>
            </a:r>
            <a:r>
              <a:rPr sz="1800" dirty="0" err="1">
                <a:solidFill>
                  <a:srgbClr val="B3B3B3"/>
                </a:solidFill>
              </a:rPr>
              <a:t>revisados</a:t>
            </a:r>
            <a:r>
              <a:rPr sz="1800" dirty="0">
                <a:solidFill>
                  <a:srgbClr val="B3B3B3"/>
                </a:solidFill>
              </a:rPr>
              <a:t> y </a:t>
            </a:r>
            <a:r>
              <a:rPr sz="1800" dirty="0" err="1">
                <a:solidFill>
                  <a:srgbClr val="B3B3B3"/>
                </a:solidFill>
              </a:rPr>
              <a:t>claramente</a:t>
            </a:r>
            <a:r>
              <a:rPr sz="1800" dirty="0">
                <a:solidFill>
                  <a:srgbClr val="B3B3B3"/>
                </a:solidFill>
              </a:rPr>
              <a:t> </a:t>
            </a:r>
            <a:r>
              <a:rPr sz="1800" dirty="0" err="1">
                <a:solidFill>
                  <a:srgbClr val="B3B3B3"/>
                </a:solidFill>
              </a:rPr>
              <a:t>identificados</a:t>
            </a:r>
            <a:r>
              <a:rPr sz="1800" dirty="0">
                <a:solidFill>
                  <a:srgbClr val="B3B3B3"/>
                </a:solidFill>
              </a:rPr>
              <a:t>. Sin </a:t>
            </a:r>
            <a:r>
              <a:rPr sz="1800" dirty="0" err="1">
                <a:solidFill>
                  <a:srgbClr val="B3B3B3"/>
                </a:solidFill>
              </a:rPr>
              <a:t>dependencia</a:t>
            </a:r>
            <a:r>
              <a:rPr sz="1800" dirty="0">
                <a:solidFill>
                  <a:srgbClr val="B3B3B3"/>
                </a:solidFill>
              </a:rPr>
              <a:t> </a:t>
            </a:r>
            <a:r>
              <a:rPr sz="1800" dirty="0" err="1">
                <a:solidFill>
                  <a:srgbClr val="B3B3B3"/>
                </a:solidFill>
              </a:rPr>
              <a:t>inicial</a:t>
            </a:r>
            <a:r>
              <a:rPr sz="1800" dirty="0">
                <a:solidFill>
                  <a:srgbClr val="B3B3B3"/>
                </a:solidFill>
              </a:rPr>
              <a:t> de los </a:t>
            </a:r>
            <a:r>
              <a:rPr sz="1800" dirty="0" err="1">
                <a:solidFill>
                  <a:srgbClr val="B3B3B3"/>
                </a:solidFill>
              </a:rPr>
              <a:t>sistemas</a:t>
            </a:r>
            <a:r>
              <a:rPr sz="1800" dirty="0">
                <a:solidFill>
                  <a:srgbClr val="B3B3B3"/>
                </a:solidFill>
              </a:rPr>
              <a:t> de </a:t>
            </a:r>
            <a:r>
              <a:rPr sz="1800" dirty="0" err="1">
                <a:solidFill>
                  <a:srgbClr val="B3B3B3"/>
                </a:solidFill>
              </a:rPr>
              <a:t>producción</a:t>
            </a:r>
            <a:r>
              <a:rPr sz="1800" dirty="0">
                <a:solidFill>
                  <a:srgbClr val="B3B3B3"/>
                </a:solidFill>
              </a:rPr>
              <a:t>.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noGrp="1"/>
          </p:cNvSpPr>
          <p:nvPr/>
        </p:nvSpPr>
        <p:spPr>
          <a:xfrm>
            <a:off x="460256" y="3933441"/>
            <a:ext cx="2653334" cy="90375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 spc="0">
                <a:ln>
                  <a:noFill/>
                </a:ln>
                <a:solidFill>
                  <a:srgbClr val="FF4305"/>
                </a:solidFill>
              </a:rPr>
              <a:t>1</a:t>
            </a:r>
            <a:endParaRPr sz="5500">
              <a:solidFill>
                <a:srgbClr val="FF4305"/>
              </a:solidFill>
            </a:endParaRPr>
          </a:p>
        </p:txBody>
      </p:sp>
      <p:sp>
        <p:nvSpPr>
          <p:cNvPr id="12" name="Content Placeholder 15">
            <a:extLst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noGrp="1"/>
          </p:cNvSpPr>
          <p:nvPr/>
        </p:nvSpPr>
        <p:spPr>
          <a:xfrm>
            <a:off x="460256" y="4975635"/>
            <a:ext cx="2653334" cy="90374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hotel y buffet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como contexto de prueba</a:t>
            </a: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noGrp="1"/>
          </p:cNvSpPr>
          <p:nvPr/>
        </p:nvSpPr>
        <p:spPr>
          <a:xfrm>
            <a:off x="4106280" y="3933441"/>
            <a:ext cx="2653334" cy="90375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 spc="0">
                <a:ln>
                  <a:noFill/>
                </a:ln>
                <a:solidFill>
                  <a:srgbClr val="FF4305"/>
                </a:solidFill>
              </a:rPr>
              <a:t>20–30</a:t>
            </a:r>
            <a:endParaRPr sz="5500">
              <a:solidFill>
                <a:srgbClr val="FF4305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noGrp="1"/>
          </p:cNvSpPr>
          <p:nvPr/>
        </p:nvSpPr>
        <p:spPr>
          <a:xfrm>
            <a:off x="4106280" y="4975635"/>
            <a:ext cx="2653334" cy="90374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recetas y una carta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reducida de vinos</a:t>
            </a:r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noGrp="1"/>
          </p:cNvSpPr>
          <p:nvPr/>
        </p:nvSpPr>
        <p:spPr>
          <a:xfrm>
            <a:off x="7752304" y="3933441"/>
            <a:ext cx="2653334" cy="903750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 spc="0">
                <a:ln>
                  <a:noFill/>
                </a:ln>
                <a:solidFill>
                  <a:srgbClr val="FF4305"/>
                </a:solidFill>
              </a:rPr>
              <a:t>2</a:t>
            </a:r>
            <a:endParaRPr sz="5500">
              <a:solidFill>
                <a:srgbClr val="FF4305"/>
              </a:solidFill>
            </a:endParaRP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noGrp="1"/>
          </p:cNvSpPr>
          <p:nvPr/>
        </p:nvSpPr>
        <p:spPr>
          <a:xfrm>
            <a:off x="7752304" y="4975635"/>
            <a:ext cx="2653334" cy="90374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idiomas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español e inglés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8C630A04-5A25-9E0C-9436-126091DB86B3}" type="slidenum">
              <a:rPr>
                <a:solidFill>
                  <a:srgbClr val="9B9B9B"/>
                </a:solidFill>
              </a:rPr>
              <a:t>6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Guion de demo del hackathon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Una conversación con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un cambio en directo</a:t>
            </a: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Preferencia y presupuesto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noGrp="1"/>
          </p:cNvSpPr>
          <p:nvPr/>
        </p:nvSpPr>
        <p:spPr>
          <a:xfrm>
            <a:off x="393700" y="2918564"/>
            <a:ext cx="5537200" cy="322092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 dirty="0"/>
              <a:t>«</a:t>
            </a:r>
            <a:r>
              <a:rPr dirty="0" err="1"/>
              <a:t>Quiero</a:t>
            </a:r>
            <a:r>
              <a:rPr dirty="0"/>
              <a:t> un </a:t>
            </a:r>
            <a:r>
              <a:rPr dirty="0" err="1"/>
              <a:t>plato</a:t>
            </a:r>
            <a:r>
              <a:rPr dirty="0"/>
              <a:t> </a:t>
            </a:r>
            <a:r>
              <a:rPr dirty="0" err="1"/>
              <a:t>vegetariano</a:t>
            </a:r>
            <a:r>
              <a:rPr dirty="0"/>
              <a:t> y un vino de </a:t>
            </a:r>
            <a:r>
              <a:rPr dirty="0" err="1"/>
              <a:t>menos</a:t>
            </a:r>
            <a:r>
              <a:rPr dirty="0"/>
              <a:t> de 30 euros».</a:t>
            </a:r>
          </a:p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endParaRPr dirty="0"/>
          </a:p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 dirty="0"/>
              <a:t>El </a:t>
            </a:r>
            <a:r>
              <a:rPr dirty="0" err="1"/>
              <a:t>huésped</a:t>
            </a:r>
            <a:r>
              <a:rPr dirty="0"/>
              <a:t> </a:t>
            </a:r>
            <a:r>
              <a:rPr lang="es-ES" dirty="0"/>
              <a:t>explica sus preferencias</a:t>
            </a:r>
            <a:r>
              <a:rPr dirty="0"/>
              <a:t>. El </a:t>
            </a:r>
            <a:r>
              <a:rPr dirty="0" err="1"/>
              <a:t>asistente</a:t>
            </a:r>
            <a:r>
              <a:rPr dirty="0"/>
              <a:t> </a:t>
            </a:r>
            <a:r>
              <a:rPr dirty="0" err="1"/>
              <a:t>identifica</a:t>
            </a:r>
            <a:r>
              <a:rPr dirty="0"/>
              <a:t> el </a:t>
            </a:r>
            <a:r>
              <a:rPr dirty="0" err="1"/>
              <a:t>plato</a:t>
            </a:r>
            <a:r>
              <a:rPr dirty="0"/>
              <a:t>, consulta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ficha</a:t>
            </a:r>
            <a:r>
              <a:rPr dirty="0"/>
              <a:t> y </a:t>
            </a:r>
            <a:r>
              <a:rPr dirty="0" err="1"/>
              <a:t>recomienda</a:t>
            </a:r>
            <a:r>
              <a:rPr dirty="0"/>
              <a:t>. El </a:t>
            </a:r>
            <a:r>
              <a:rPr lang="es-ES" dirty="0"/>
              <a:t>asistente también recomienda</a:t>
            </a:r>
            <a:r>
              <a:rPr dirty="0"/>
              <a:t> un vino </a:t>
            </a:r>
            <a:r>
              <a:rPr lang="es-ES" dirty="0"/>
              <a:t>o bebida que haga buen maridaje </a:t>
            </a:r>
            <a:r>
              <a:rPr dirty="0"/>
              <a:t>y </a:t>
            </a:r>
            <a:r>
              <a:rPr dirty="0" err="1"/>
              <a:t>devuelve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alternativa</a:t>
            </a:r>
            <a:r>
              <a:rPr dirty="0"/>
              <a:t>.</a:t>
            </a:r>
          </a:p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endParaRPr dirty="0"/>
          </a:p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rPr lang="es-ES" dirty="0"/>
              <a:t>Finalmente genera el pedido </a:t>
            </a:r>
            <a:r>
              <a:rPr dirty="0"/>
              <a:t>a</a:t>
            </a:r>
            <a:r>
              <a:rPr lang="es-ES" dirty="0"/>
              <a:t> cocina</a:t>
            </a:r>
            <a:r>
              <a:rPr dirty="0"/>
              <a:t>.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noGrp="1"/>
          </p:cNvSpPr>
          <p:nvPr/>
        </p:nvSpPr>
        <p:spPr>
          <a:xfrm>
            <a:off x="7886700" y="3539067"/>
            <a:ext cx="3911600" cy="5487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Maridaje y precio visibles</a:t>
            </a: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noGrp="1"/>
          </p:cNvSpPr>
          <p:nvPr/>
        </p:nvSpPr>
        <p:spPr>
          <a:xfrm>
            <a:off x="7507725" y="356390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noGrp="1"/>
          </p:cNvSpPr>
          <p:nvPr/>
        </p:nvSpPr>
        <p:spPr>
          <a:xfrm>
            <a:off x="7886700" y="4148666"/>
            <a:ext cx="3911600" cy="5487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Vino agotado y alternativa</a:t>
            </a: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noGrp="1"/>
          </p:cNvSpPr>
          <p:nvPr/>
        </p:nvSpPr>
        <p:spPr>
          <a:xfrm>
            <a:off x="7507725" y="417349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noGrp="1"/>
          </p:cNvSpPr>
          <p:nvPr/>
        </p:nvSpPr>
        <p:spPr>
          <a:xfrm>
            <a:off x="7886700" y="4770966"/>
            <a:ext cx="3911600" cy="5487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Información incompleta</a:t>
            </a: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noGrp="1"/>
          </p:cNvSpPr>
          <p:nvPr/>
        </p:nvSpPr>
        <p:spPr>
          <a:xfrm>
            <a:off x="7507725" y="479579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D3D7D1C8-AE23-AA48-DF65-C742588DBE47}" type="slidenum">
              <a:rPr>
                <a:solidFill>
                  <a:srgbClr val="9B9B9B"/>
                </a:solidFill>
              </a:rPr>
              <a:t>7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Tecnología con una función concreta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Interacción multimodal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Transcripción y voz de respuesta. Visión para leer carteles. Confirmación del identificador del plato antes de consultar la ficha.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Servicio y operación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Base de datos por hotel. API de consulta, panel de contenido y registro técnico. Datos con versión, fecha y responsable.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Consulta y recomendación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Modelo de lenguaje con acceso acotado al catálogo. Filtros por menú, preferencias, precio y stock. Respuesta ligada a fuentes.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668" y="1150239"/>
            <a:ext cx="10572750" cy="139703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solidFill>
                  <a:srgbClr val="B3B3B3"/>
                </a:solidFill>
              </a:defRPr>
            </a:pPr>
            <a:r>
              <a:rPr sz="1800">
                <a:solidFill>
                  <a:srgbClr val="B3B3B3"/>
                </a:solidFill>
              </a:rPr>
              <a:t>Un único servicio de aplicación coordina la experiencia. Las reglas del catálogo controlan los hechos.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BA58DA2A-B818-18A9-29C1-B697728D5BCE}" type="slidenum">
              <a:rPr>
                <a:solidFill>
                  <a:srgbClr val="9B9B9B"/>
                </a:solidFill>
              </a:rPr>
              <a:t>8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Los datos sostienen la recomendación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Cocina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Receta e identificador. Ingredientes, alérgenos validados y menú por servicio. Aprobación por el responsable de cocina.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Tecnología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POC con importación de archivos. Piloto con conectores de lectura. Si falta o caduca un dato crítico, no se afirma y se consulta al personal.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Restaurante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Vino, formato, precio, moneda y disponibilidad. Reglas del régimen. Responsable de sala y actualización por turno.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668" y="1150239"/>
            <a:ext cx="10572750" cy="139703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solidFill>
                  <a:srgbClr val="B3B3B3"/>
                </a:solidFill>
              </a:defRPr>
            </a:pPr>
            <a:r>
              <a:rPr sz="1800">
                <a:solidFill>
                  <a:srgbClr val="B3B3B3"/>
                </a:solidFill>
              </a:rPr>
              <a:t>La calidad del catálogo es una condición de entrada al piloto. Cada hotel publica su oferta y sus excepciones.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388657AE-30A1-5A7A-6A7F-315D84436430}" type="slidenum">
              <a:rPr>
                <a:solidFill>
                  <a:srgbClr val="9B9B9B"/>
                </a:solidFill>
              </a:rPr>
              <a:t>9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Fases y criterios para avanzar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800">
              <a:solidFill>
                <a:srgbClr val="FF4709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endParaRPr/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B1E75D49-9D61-4187-95CA-B13B44E5D8FE}"/>
              </a:ext>
            </a:extLst>
          </p:cNvPr>
          <p:cNvSpPr>
            <a:spLocks noGrp="1"/>
          </p:cNvSpPr>
          <p:nvPr/>
        </p:nvSpPr>
        <p:spPr>
          <a:xfrm>
            <a:off x="393668" y="1171575"/>
            <a:ext cx="11382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>
                <a:solidFill>
                  <a:srgbClr val="B3B3B3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3B3B3"/>
                </a:solidFill>
                <a:latin typeface="Roboto"/>
                <a:ea typeface="Roboto"/>
                <a:cs typeface="Roboto"/>
              </a:rPr>
              <a:t>Cada fase termina con una decisión basada en evidencia.</a:t>
            </a:r>
          </a:p>
        </p:txBody>
      </p:sp>
      <p:graphicFrame>
        <p:nvGraphicFramePr>
          <p:cNvPr id="545" name="Table 544"/>
          <p:cNvGraphicFramePr/>
          <p:nvPr/>
        </p:nvGraphicFramePr>
        <p:xfrm>
          <a:off x="393668" y="2000250"/>
          <a:ext cx="11382375" cy="3895725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Fase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Alcance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Condición de salida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0 · Preparación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Hotel, datos, responsables y métricas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Catálogo de muestra validado y acceso acordado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1 · POC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Un buffet, 20–30 recetas, ES/EN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Demo reproducible y pruebas críticas superadas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2 · Piloto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Un hotel, usuarios reales y conectores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Valor medido y operación aceptada por F&amp;B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 · Expansión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Pequeña cohorte en dos regiones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Localización, soporte y coste sostenibles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4 · Escala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Oleadas por región y marca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Aprobación local y capacidad de reversión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DB7BEEEC-A170-5376-2B6E-CB54687B0CB1}" type="slidenum">
              <a:rPr>
                <a:solidFill>
                  <a:srgbClr val="9B9B9B"/>
                </a:solidFill>
              </a:rPr>
              <a:t>10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Plan de proyecto y situación actual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800">
              <a:solidFill>
                <a:srgbClr val="FF4709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endParaRPr/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EAEC08F5-78F6-4B8B-89AD-1F0BF6CB1A70}"/>
              </a:ext>
            </a:extLst>
          </p:cNvPr>
          <p:cNvSpPr>
            <a:spLocks noGrp="1"/>
          </p:cNvSpPr>
          <p:nvPr/>
        </p:nvSpPr>
        <p:spPr>
          <a:xfrm>
            <a:off x="393668" y="1171575"/>
            <a:ext cx="11382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>
                <a:solidFill>
                  <a:srgbClr val="B3B3B3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3B3B3"/>
                </a:solidFill>
                <a:latin typeface="Roboto"/>
                <a:ea typeface="Roboto"/>
                <a:cs typeface="Roboto"/>
              </a:rPr>
              <a:t>Estado actual: caso elegido y alcance definido. Construcción y validaciones pendientes.</a:t>
            </a:r>
          </a:p>
        </p:txBody>
      </p:sp>
      <p:graphicFrame>
        <p:nvGraphicFramePr>
          <p:cNvPr id="545" name="Table 544"/>
          <p:cNvGraphicFramePr/>
          <p:nvPr/>
        </p:nvGraphicFramePr>
        <p:xfrm>
          <a:off x="393668" y="2000250"/>
          <a:ext cx="11382375" cy="3895725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Ventana estimada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Trabajo y responsable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Entregable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Preparación · 1 semana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Producto + F&amp;B: datos, criterios y diseño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Catálogo revisado y lista de pruebas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Hackathon · 2–3 días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Equipo técnico: flujo completo y ensayos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POC y demo con evidencia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Piloto · 4–6 semanas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Tecnología + hotel: integración y medición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Informe de valor, calidad y coste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Cohorte · 6–8 semanas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Plataforma + operación regional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Guía de despliegue y soporte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Escala · según resultados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Patrocinador + regiones: oleadas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Decisión de expansión por hotel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30394428-F1DC-E5F6-DB0C-7DE31F3D8A23}" type="slidenum">
              <a:rPr>
                <a:solidFill>
                  <a:srgbClr val="9B9B9B"/>
                </a:solidFill>
              </a:rPr>
              <a:t>11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Despliegue mundial por oleadas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Configuración del hotel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Idioma, moneda, régimen, horarios y catálogo propios. Traducciones revisadas localmente. Datos separados por hotel y región.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Operación continua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Despliegue gradual, monitorización y límites de coste. Soporte regional, manual operativo y vuelta inmediata a la versión anterior.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Cohortes regionales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Primero un hotel Selection. Después, una cohorte pequeña en dos regiones. Ampliar a Waves y JOIA tras adaptar la experiencia.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668" y="1150239"/>
            <a:ext cx="10572750" cy="139703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solidFill>
                  <a:srgbClr val="B3B3B3"/>
                </a:solidFill>
              </a:defRPr>
            </a:pPr>
            <a:r>
              <a:rPr sz="1800">
                <a:solidFill>
                  <a:srgbClr val="B3B3B3"/>
                </a:solidFill>
              </a:rPr>
              <a:t>Un núcleo común con configuración local. La expansión depende del valor y de la preparación de cada hotel.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4DB16885-0D3F-A391-B669-3211DB3B26E8}" type="slidenum">
              <a:rPr>
                <a:solidFill>
                  <a:srgbClr val="9B9B9B"/>
                </a:solidFill>
              </a:rPr>
              <a:t>12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Plan de seguridad y privacidad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Datos mínimos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Sesión anónima en la POC. Sin grabación persistente de voz o fotos por defecto. Preferencias solo durante la sesión y borrado definido.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Controles de IA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Catálogo y herramientas autorizados. Texto de imágenes tratado como datos. Sin pagos ni acciones libres. Derivación ante información insuficiente.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Accesos y aislamiento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SSO y roles para empleados en producción. Cifrado, secretos gestionados y permisos mínimos. Separación de hoteles y registros auditables.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668" y="1150239"/>
            <a:ext cx="10572750" cy="139703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solidFill>
                  <a:srgbClr val="B3B3B3"/>
                </a:solidFill>
              </a:defRPr>
            </a:pPr>
            <a:r>
              <a:rPr sz="1800">
                <a:solidFill>
                  <a:srgbClr val="B3B3B3"/>
                </a:solidFill>
              </a:rPr>
              <a:t>Proteger al huésped y limitar lo que el asistente puede consultar o ejecutar. Revisión antes del piloto.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2DD23107-4986-8758-3A93-3D74F35908CC}" type="slidenum">
              <a:rPr>
                <a:solidFill>
                  <a:srgbClr val="9B9B9B"/>
                </a:solidFill>
              </a:rPr>
              <a:t>13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Plan de calidad y aceptación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800">
              <a:solidFill>
                <a:srgbClr val="FF4709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endParaRPr/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1F251943-305B-48B2-9EBB-FA1EA16A1B5C}"/>
              </a:ext>
            </a:extLst>
          </p:cNvPr>
          <p:cNvSpPr>
            <a:spLocks noGrp="1"/>
          </p:cNvSpPr>
          <p:nvPr/>
        </p:nvSpPr>
        <p:spPr>
          <a:xfrm>
            <a:off x="393668" y="1171575"/>
            <a:ext cx="11382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>
                <a:solidFill>
                  <a:srgbClr val="B3B3B3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3B3B3"/>
                </a:solidFill>
                <a:latin typeface="Roboto"/>
                <a:ea typeface="Roboto"/>
                <a:cs typeface="Roboto"/>
              </a:rPr>
              <a:t>Umbrales iniciales propuestos. Se acuerdan con Iberostar antes del piloto.</a:t>
            </a:r>
          </a:p>
        </p:txBody>
      </p:sp>
      <p:graphicFrame>
        <p:nvGraphicFramePr>
          <p:cNvPr id="545" name="Table 544"/>
          <p:cNvGraphicFramePr/>
          <p:nvPr/>
        </p:nvGraphicFramePr>
        <p:xfrm>
          <a:off x="393668" y="2000250"/>
          <a:ext cx="11382375" cy="389572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Dimensión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Prueba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Objetivo de aceptación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Datos y seguridad alimentaria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50 escenarios, incluyendo fichas incompletas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100 % de casos críticos deriva o informa correctamente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Recomendación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Preferencias, menú, régimen, precio y stock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≥95 % válidas en el conjunto de prueba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Experiencia ES/EN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Ruido, acentos, cartel ambiguo y texto alternativo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≥90 % de tareas completas en pruebas guiadas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Respuesta y actualización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Tiempo hasta respuesta útil y agotado en directo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p95 ≤5 s; cambio de stock visible ≤60 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Operación y seguridad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Carga, aislamiento, caída y reversión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Sin hallazgos críticos abiertos al lanzar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327921A4-25C4-3DB4-06B1-32693CEE2241}" type="slidenum">
              <a:rPr>
                <a:solidFill>
                  <a:srgbClr val="9B9B9B"/>
                </a:solidFill>
              </a:rPr>
              <a:t>14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Valor y medición en el piloto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800">
              <a:solidFill>
                <a:srgbClr val="FF4709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endParaRPr/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EB2E0EDB-A09D-4E48-8388-16B22F08BB68}"/>
              </a:ext>
            </a:extLst>
          </p:cNvPr>
          <p:cNvSpPr>
            <a:spLocks noGrp="1"/>
          </p:cNvSpPr>
          <p:nvPr/>
        </p:nvSpPr>
        <p:spPr>
          <a:xfrm>
            <a:off x="393668" y="1171575"/>
            <a:ext cx="11382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>
                <a:solidFill>
                  <a:srgbClr val="B3B3B3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3B3B3"/>
                </a:solidFill>
                <a:latin typeface="Roboto"/>
                <a:ea typeface="Roboto"/>
                <a:cs typeface="Roboto"/>
              </a:rPr>
              <a:t>Comparación con la experiencia habitual en servicios equivalentes. Sin prometer un ROI antes de medir.</a:t>
            </a:r>
          </a:p>
        </p:txBody>
      </p:sp>
      <p:graphicFrame>
        <p:nvGraphicFramePr>
          <p:cNvPr id="545" name="Table 544"/>
          <p:cNvGraphicFramePr/>
          <p:nvPr/>
        </p:nvGraphicFramePr>
        <p:xfrm>
          <a:off x="393668" y="2000250"/>
          <a:ext cx="11382375" cy="3895725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Resultado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Métrica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Cómo medir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Elección más fácil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Tiempo hasta encontrar una opción válida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Tarea observada con y sin asistente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Confianza y utilidad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Validez y satisfacción tras la interacción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Revisión F&amp;B y encuesta breve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Venta adicional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Margen de vino por comensal elegible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Comparación de turnos o grupos equivalentes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Eficiencia del equipo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Tiempo de consultas y derivaciones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Muestreo del trabajo real de sala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Viabilidad económica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Coste por sesión resuelta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IA, infraestructura, soporte y contenido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EA83FA91-883A-0168-8075-96CEB9DCA3C2}" type="slidenum">
              <a:rPr>
                <a:solidFill>
                  <a:srgbClr val="9B9B9B"/>
                </a:solidFill>
              </a:rPr>
              <a:t>15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Alineamiento con los criterios de Turing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800">
              <a:solidFill>
                <a:srgbClr val="FF4709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endParaRPr/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700" y="1150259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712718E7-F44E-45A5-9397-D3BD04A0C0E1}"/>
              </a:ext>
            </a:extLst>
          </p:cNvPr>
          <p:cNvSpPr>
            <a:spLocks noGrp="1"/>
          </p:cNvSpPr>
          <p:nvPr/>
        </p:nvSpPr>
        <p:spPr>
          <a:xfrm>
            <a:off x="393668" y="1171575"/>
            <a:ext cx="11382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>
                <a:solidFill>
                  <a:srgbClr val="B3B3B3"/>
                </a:solidFill>
                <a:latin typeface="Roboto"/>
                <a:ea typeface="Roboto"/>
                <a:cs typeface="Roboto"/>
              </a:defRPr>
            </a:pPr>
            <a:r>
              <a:rPr sz="1875">
                <a:solidFill>
                  <a:srgbClr val="B3B3B3"/>
                </a:solidFill>
                <a:latin typeface="Roboto"/>
                <a:ea typeface="Roboto"/>
                <a:cs typeface="Roboto"/>
              </a:rPr>
              <a:t>Criterios facilitados para este hackathon. La evidencia pesa más que la amplitud del alcance.</a:t>
            </a:r>
          </a:p>
        </p:txBody>
      </p:sp>
      <p:graphicFrame>
        <p:nvGraphicFramePr>
          <p:cNvPr id="545" name="Table 544"/>
          <p:cNvGraphicFramePr/>
          <p:nvPr/>
        </p:nvGraphicFramePr>
        <p:xfrm>
          <a:off x="393668" y="2000250"/>
          <a:ext cx="11382375" cy="3895725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Criterio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Aplicación al proyecto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Evidencia prevista</a:t>
                      </a:r>
                    </a:p>
                  </a:txBody>
                  <a:tcPr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Innovación aplicada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Voz e imagen sobre catálogo vivo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Demo de identificación y actualización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Utilidad y cliente real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Reto documentado de buffet y maridajes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Validación F&amp;B y métricas del piloto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Simplicidad y realismo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Un buffet, dos idiomas y un servicio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Alcance cerrado y dependencias visibles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Calidad, agilidad y rigor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Iteraciones breves con pruebas desde el inicio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Evaluación, registro de fallos y criterios de salida</a:t>
                      </a:r>
                    </a:p>
                  </a:txBody>
                  <a:tcPr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Desafío y aprendizaje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Ruido, ambigüedad y datos cambiantes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Experimentos comparados y retrospectiva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DC9C7607-4BA3-B4DC-A00F-2E67A9FCFF7E}" type="slidenum">
              <a:rPr>
                <a:solidFill>
                  <a:srgbClr val="9B9B9B"/>
                </a:solidFill>
              </a:rPr>
              <a:t>16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Riesgos que condicionan el avance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Datos no disponibles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Responsable F&amp;B. Empezar con muestra revisada. Si faltan fichas fiables, limitar la demo y aplazar el piloto con huéspedes.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Adopción y confianza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Producto y sala. Probar con huéspedes, revisar traducciones y mantener ayuda humana. Detener ante errores críticos.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Integración o red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Responsable técnico. Interfaces simuladas en POC y conectores de lectura en piloto. Si falla la consulta, explicar la limitación.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668" y="1150239"/>
            <a:ext cx="10572750" cy="139703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solidFill>
                  <a:srgbClr val="B3B3B3"/>
                </a:solidFill>
              </a:defRPr>
            </a:pPr>
            <a:r>
              <a:rPr sz="1800">
                <a:solidFill>
                  <a:srgbClr val="B3B3B3"/>
                </a:solidFill>
              </a:rPr>
              <a:t>Los riesgos se cierran con responsables y pruebas antes de ampliar el alcance.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90F7333B-44AC-F7E9-D49D-FE92F45E0477}" type="slidenum">
              <a:rPr>
                <a:solidFill>
                  <a:srgbClr val="9B9B9B"/>
                </a:solidFill>
              </a:rPr>
              <a:t>17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Valor para Iberostar y para Turing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Para Iberostar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Servicio gastronómico consistente, catálogo con responsables y evidencia para decidir nuevas inversiones. Adaptable a marcas y regiones.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Límites de reutilización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El núcleo técnico puede replicarse. Recetas, precios y datos de huéspedes permanecen aislados. Cada cliente valida contenido y operación.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Para Turing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Patrón de asistente multimodal, evaluación y conectores reutilizables. Aprendizaje compartido y oferta de implantación y soporte.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668" y="1150239"/>
            <a:ext cx="10572750" cy="139703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solidFill>
                  <a:srgbClr val="B3B3B3"/>
                </a:solidFill>
              </a:defRPr>
            </a:pPr>
            <a:r>
              <a:rPr sz="1800">
                <a:solidFill>
                  <a:srgbClr val="B3B3B3"/>
                </a:solidFill>
              </a:rPr>
              <a:t>Una base reutilizable para otros hoteles y clientes, una vez probado el caso inicial.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B1C6C81E-38B9-7560-621D-5A151A79DF9B}" type="slidenum">
              <a:rPr>
                <a:solidFill>
                  <a:srgbClr val="9B9B9B"/>
                </a:solidFill>
              </a:rPr>
              <a:t>18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Próximo hito: preparar la POC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Un hotel, datos revisados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y una demo que se pueda repetir</a:t>
            </a: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Responsable F&amp;B y hotel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noGrp="1"/>
          </p:cNvSpPr>
          <p:nvPr/>
        </p:nvSpPr>
        <p:spPr>
          <a:xfrm>
            <a:off x="393700" y="2918564"/>
            <a:ext cx="5537200" cy="29234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El caso y el alcance están definidos. La siguiente decisión es habilitar la preparación del prototipo.</a:t>
            </a:r>
          </a:p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endParaRPr/>
          </a:p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Iberostar aporta el contexto gastronómico y valida el contenido. Turing implementa el flujo, prueba los límites y presenta evidencia.</a:t>
            </a:r>
          </a:p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endParaRPr/>
          </a:p>
          <a:p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Al cerrar la POC se decide si avanzar al piloto.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noGrp="1"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Muestra de recetas y vinos</a:t>
            </a:r>
          </a:p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noGrp="1"/>
          </p:cNvSpPr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noGrp="1"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Reglas de precio y régimen</a:t>
            </a: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noGrp="1"/>
          </p:cNvSpPr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noGrp="1"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Equipo y tiempo disponibles</a:t>
            </a: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noGrp="1"/>
          </p:cNvSpPr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noGrp="1"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Criterios de aceptación</a:t>
            </a: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noGrp="1"/>
          </p:cNvSpPr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FF4709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r>
              <a:rPr>
                <a:solidFill>
                  <a:srgbClr val="9B9B9B"/>
                </a:solidFill>
              </a:rPr>
              <a:t>Iberostar · Propuesta Turing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pPr>
              <a:defRPr>
                <a:solidFill>
                  <a:srgbClr val="9B9B9B"/>
                </a:solidFill>
              </a:defRPr>
            </a:pPr>
            <a:fld id="{CCF91274-D221-1BB4-3BF9-836E3AD31EBE}" type="slidenum">
              <a:rPr>
                <a:solidFill>
                  <a:srgbClr val="9B9B9B"/>
                </a:solidFill>
              </a:rPr>
              <a:t>19</a:t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r>
              <a:t>Fuentes y supuestos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Documentos aportados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Clientes y Verticales, parte 1, diapositivas 14–15. Retos Activos, 16/09/2026, apartado de buffet y maridajes.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Supuestos por validar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Hotel y catálogo disponibles. Equipo de 3–4 personas. Hackathon de 2–3 días. Plazos y metas propuestos. Faltan las partes 2 y 3.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Fuentes públicas</a:t>
            </a:r>
          </a:p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Iberostar Honest Food. Hotel Digital. App Iberostar. Imagen de buffet publicada por IHG. Enlaces completos en las notas.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noGrp="1"/>
          </p:cNvSpPr>
          <p:nvPr/>
        </p:nvSpPr>
        <p:spPr>
          <a:xfrm>
            <a:off x="393668" y="1150239"/>
            <a:ext cx="10572750" cy="1397032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>
                <a:solidFill>
                  <a:srgbClr val="B3B3B3"/>
                </a:solidFill>
              </a:defRPr>
            </a:pPr>
            <a:r>
              <a:rPr sz="1800">
                <a:solidFill>
                  <a:srgbClr val="B3B3B3"/>
                </a:solidFill>
              </a:rPr>
              <a:t>Base de la propuesta. Investigación pública contrastada con el reto interno y el alcance seleccionado.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3853</Words>
  <Application>Microsoft Office PowerPoint</Application>
  <DocSecurity>0</DocSecurity>
  <PresentationFormat>Widescreen</PresentationFormat>
  <Paragraphs>302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Roboto</vt:lpstr>
      <vt:lpstr>Arial</vt:lpstr>
      <vt:lpstr>Lora</vt:lpstr>
      <vt:lpstr>Helvetica Neue</vt:lpstr>
      <vt:lpstr>Default Codex Theme</vt:lpstr>
      <vt:lpstr>Asistente de restaurante y sumiller</vt:lpstr>
      <vt:lpstr>Una elección más fácil en el momento de comer</vt:lpstr>
      <vt:lpstr>Encaje con Iberostar</vt:lpstr>
      <vt:lpstr>Funcionalidad global</vt:lpstr>
      <vt:lpstr>Una POC pequeña y demostrable</vt:lpstr>
      <vt:lpstr>Guion de demo del hackathon</vt:lpstr>
      <vt:lpstr>Tecnología con una función concreta</vt:lpstr>
      <vt:lpstr>Los datos sostienen la recomendación</vt:lpstr>
      <vt:lpstr>Fases y criterios para avanzar</vt:lpstr>
      <vt:lpstr>Plan de proyecto y situación actual</vt:lpstr>
      <vt:lpstr>Despliegue mundial por oleadas</vt:lpstr>
      <vt:lpstr>Plan de seguridad y privacidad</vt:lpstr>
      <vt:lpstr>Plan de calidad y aceptación</vt:lpstr>
      <vt:lpstr>Valor y medición en el piloto</vt:lpstr>
      <vt:lpstr>Alineamiento con los criterios de Turing</vt:lpstr>
      <vt:lpstr>Riesgos que condicionan el avance</vt:lpstr>
      <vt:lpstr>Valor para Iberostar y para Turing</vt:lpstr>
      <vt:lpstr>Próximo hito: preparar la POC</vt:lpstr>
      <vt:lpstr>Fuentes y supuestos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Cesar De la Torre</cp:lastModifiedBy>
  <cp:revision>5</cp:revision>
  <dcterms:created xsi:type="dcterms:W3CDTF">2026-09-18T10:24:38Z</dcterms:created>
  <dcterms:modified xsi:type="dcterms:W3CDTF">2026-09-18T10:41:18Z</dcterms:modified>
</cp:coreProperties>
</file>